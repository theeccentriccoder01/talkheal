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64" r:id="rId4"/>
    <p:sldId id="257" r:id="rId5"/>
    <p:sldId id="261" r:id="rId6"/>
    <p:sldId id="263" r:id="rId7"/>
    <p:sldId id="259" r:id="rId8"/>
    <p:sldId id="262"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307" y="4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2352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701395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jp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95529"/>
            <a:ext cx="14630400" cy="8229600"/>
          </a:xfrm>
          <a:prstGeom prst="rect">
            <a:avLst/>
          </a:prstGeom>
          <a:solidFill>
            <a:srgbClr val="FFFAFA"/>
          </a:solidFill>
          <a:ln/>
        </p:spPr>
        <p:txBody>
          <a:bodyPr/>
          <a:lstStyle/>
          <a:p>
            <a:endParaRPr lang="en-IN"/>
          </a:p>
        </p:txBody>
      </p:sp>
      <p:sp>
        <p:nvSpPr>
          <p:cNvPr id="4" name="Text 1"/>
          <p:cNvSpPr/>
          <p:nvPr/>
        </p:nvSpPr>
        <p:spPr>
          <a:xfrm>
            <a:off x="6319599" y="1962514"/>
            <a:ext cx="7477601" cy="1666399"/>
          </a:xfrm>
          <a:prstGeom prst="rect">
            <a:avLst/>
          </a:prstGeom>
          <a:noFill/>
          <a:ln/>
        </p:spPr>
        <p:txBody>
          <a:bodyPr wrap="square" rtlCol="0" anchor="t"/>
          <a:lstStyle/>
          <a:p>
            <a:pPr marL="0" indent="0">
              <a:lnSpc>
                <a:spcPts val="6561"/>
              </a:lnSpc>
              <a:buNone/>
            </a:pPr>
            <a:r>
              <a:rPr lang="en-US" sz="5249" dirty="0">
                <a:solidFill>
                  <a:srgbClr val="1F1E1E"/>
                </a:solidFill>
                <a:latin typeface="Red Hat Text" pitchFamily="34" charset="0"/>
                <a:ea typeface="Red Hat Text" pitchFamily="34" charset="-122"/>
                <a:cs typeface="Red Hat Text" pitchFamily="34" charset="-120"/>
              </a:rPr>
              <a:t>AI-Based Mental Health Assistant</a:t>
            </a:r>
            <a:endParaRPr lang="en-US" sz="5249" dirty="0"/>
          </a:p>
        </p:txBody>
      </p:sp>
      <p:sp>
        <p:nvSpPr>
          <p:cNvPr id="5" name="Text 2"/>
          <p:cNvSpPr/>
          <p:nvPr/>
        </p:nvSpPr>
        <p:spPr>
          <a:xfrm>
            <a:off x="6319599" y="3953475"/>
            <a:ext cx="7477601" cy="1092202"/>
          </a:xfrm>
          <a:prstGeom prst="rect">
            <a:avLst/>
          </a:prstGeom>
          <a:noFill/>
          <a:ln/>
        </p:spPr>
        <p:txBody>
          <a:bodyPr wrap="square" rtlCol="0" anchor="t"/>
          <a:lstStyle/>
          <a:p>
            <a:pPr marL="0" indent="0">
              <a:lnSpc>
                <a:spcPts val="2799"/>
              </a:lnSpc>
              <a:buNone/>
            </a:pPr>
            <a:r>
              <a:rPr lang="en-US" dirty="0">
                <a:latin typeface="Calibri" panose="020F0502020204030204" pitchFamily="34" charset="0"/>
              </a:rPr>
              <a:t>A</a:t>
            </a:r>
            <a:r>
              <a:rPr lang="en-US" sz="1800" dirty="0">
                <a:effectLst/>
                <a:latin typeface="Calibri" panose="020F0502020204030204" pitchFamily="34" charset="0"/>
              </a:rPr>
              <a:t>n AI-based mental healthcare and assistance providin</a:t>
            </a:r>
            <a:r>
              <a:rPr lang="en-US" dirty="0">
                <a:latin typeface="Calibri" panose="020F0502020204030204" pitchFamily="34" charset="0"/>
              </a:rPr>
              <a:t>g</a:t>
            </a:r>
            <a:r>
              <a:rPr lang="en-US" sz="1800" dirty="0">
                <a:effectLst/>
                <a:latin typeface="Calibri" panose="020F0502020204030204" pitchFamily="34" charset="0"/>
              </a:rPr>
              <a:t> application for people facing mental health issues who seek help in the comfort of their homes by providing information, resources, and support.</a:t>
            </a:r>
            <a:endParaRPr lang="en-US" sz="1750" dirty="0"/>
          </a:p>
        </p:txBody>
      </p:sp>
      <p:sp>
        <p:nvSpPr>
          <p:cNvPr id="6" name="Shape 3"/>
          <p:cNvSpPr/>
          <p:nvPr/>
        </p:nvSpPr>
        <p:spPr>
          <a:xfrm>
            <a:off x="6319599" y="5417225"/>
            <a:ext cx="355402" cy="355402"/>
          </a:xfrm>
          <a:prstGeom prst="roundRect">
            <a:avLst>
              <a:gd name="adj" fmla="val 25726039"/>
            </a:avLst>
          </a:prstGeom>
          <a:noFill/>
          <a:ln w="7620">
            <a:solidFill>
              <a:srgbClr val="FFFFFF"/>
            </a:solidFill>
            <a:prstDash val="solid"/>
          </a:ln>
        </p:spPr>
      </p:sp>
      <p:sp>
        <p:nvSpPr>
          <p:cNvPr id="8" name="Text 4"/>
          <p:cNvSpPr/>
          <p:nvPr/>
        </p:nvSpPr>
        <p:spPr>
          <a:xfrm>
            <a:off x="6786086" y="5400556"/>
            <a:ext cx="3927634" cy="388858"/>
          </a:xfrm>
          <a:prstGeom prst="rect">
            <a:avLst/>
          </a:prstGeom>
          <a:noFill/>
          <a:ln/>
        </p:spPr>
        <p:txBody>
          <a:bodyPr wrap="none" rtlCol="0" anchor="t"/>
          <a:lstStyle/>
          <a:p>
            <a:pPr marL="0" indent="0" algn="l">
              <a:lnSpc>
                <a:spcPts val="3062"/>
              </a:lnSpc>
              <a:buNone/>
            </a:pPr>
            <a:r>
              <a:rPr lang="en-US" sz="2187" b="1" dirty="0">
                <a:solidFill>
                  <a:srgbClr val="3B3535"/>
                </a:solidFill>
                <a:latin typeface="Roboto" pitchFamily="34" charset="0"/>
                <a:ea typeface="Roboto" pitchFamily="34" charset="-122"/>
                <a:cs typeface="Roboto" pitchFamily="34" charset="-120"/>
              </a:rPr>
              <a:t>The Quantum Tech-</a:t>
            </a:r>
            <a:r>
              <a:rPr lang="en-US" sz="2187" b="1" dirty="0" err="1">
                <a:solidFill>
                  <a:srgbClr val="3B3535"/>
                </a:solidFill>
                <a:latin typeface="Roboto" pitchFamily="34" charset="0"/>
                <a:ea typeface="Roboto" pitchFamily="34" charset="-122"/>
                <a:cs typeface="Roboto" pitchFamily="34" charset="-120"/>
              </a:rPr>
              <a:t>Mystifiers</a:t>
            </a:r>
            <a:endParaRPr lang="en-US" sz="2187" b="1" dirty="0">
              <a:solidFill>
                <a:srgbClr val="3B3535"/>
              </a:solidFill>
              <a:latin typeface="Roboto" pitchFamily="34" charset="0"/>
              <a:ea typeface="Roboto" pitchFamily="34" charset="-122"/>
              <a:cs typeface="Roboto" pitchFamily="34" charset="-120"/>
            </a:endParaRPr>
          </a:p>
          <a:p>
            <a:pPr marL="0" indent="0" algn="l">
              <a:lnSpc>
                <a:spcPts val="3062"/>
              </a:lnSpc>
              <a:buNone/>
            </a:pPr>
            <a:r>
              <a:rPr lang="en-US" sz="1600" dirty="0">
                <a:solidFill>
                  <a:srgbClr val="3B3535"/>
                </a:solidFill>
                <a:latin typeface="Roboto" pitchFamily="34" charset="0"/>
                <a:ea typeface="Roboto" pitchFamily="34" charset="-122"/>
                <a:cs typeface="Roboto" pitchFamily="34" charset="-120"/>
              </a:rPr>
              <a:t>Sagnik Chakraborty - 22101106020</a:t>
            </a:r>
          </a:p>
          <a:p>
            <a:pPr marL="0" indent="0" algn="l">
              <a:lnSpc>
                <a:spcPts val="3062"/>
              </a:lnSpc>
              <a:buNone/>
            </a:pPr>
            <a:r>
              <a:rPr lang="en-US" sz="1600" dirty="0">
                <a:solidFill>
                  <a:srgbClr val="3B3535"/>
                </a:solidFill>
                <a:latin typeface="Roboto" pitchFamily="34" charset="0"/>
                <a:ea typeface="Roboto" pitchFamily="34" charset="-122"/>
                <a:cs typeface="Roboto" pitchFamily="34" charset="-120"/>
              </a:rPr>
              <a:t>Souhardya Banerjee - 22101105062</a:t>
            </a:r>
          </a:p>
          <a:p>
            <a:pPr marL="0" indent="0" algn="l">
              <a:lnSpc>
                <a:spcPts val="3062"/>
              </a:lnSpc>
              <a:buNone/>
            </a:pPr>
            <a:r>
              <a:rPr lang="en-US" sz="1600" dirty="0">
                <a:solidFill>
                  <a:srgbClr val="3B3535"/>
                </a:solidFill>
                <a:latin typeface="Roboto" pitchFamily="34" charset="0"/>
                <a:ea typeface="Roboto" pitchFamily="34" charset="-122"/>
                <a:cs typeface="Roboto" pitchFamily="34" charset="-120"/>
              </a:rPr>
              <a:t>Gouranga Biswas - 22101106044</a:t>
            </a:r>
            <a:endParaRPr lang="en-US" sz="1600" dirty="0"/>
          </a:p>
        </p:txBody>
      </p:sp>
      <p:pic>
        <p:nvPicPr>
          <p:cNvPr id="9" name="Image 2"/>
          <p:cNvPicPr>
            <a:picLocks noChangeAspect="1"/>
          </p:cNvPicPr>
          <p:nvPr/>
        </p:nvPicPr>
        <p:blipFill>
          <a:blip r:embed="rId4"/>
          <a:srcRect/>
          <a:stretch/>
        </p:blipFill>
        <p:spPr>
          <a:xfrm>
            <a:off x="0" y="750626"/>
            <a:ext cx="6374191" cy="67283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27296"/>
            <a:ext cx="14630400" cy="9218533"/>
          </a:xfrm>
          <a:prstGeom prst="rect">
            <a:avLst/>
          </a:prstGeom>
          <a:solidFill>
            <a:srgbClr val="FFFAFA"/>
          </a:solidFill>
          <a:ln/>
        </p:spPr>
      </p:sp>
      <p:pic>
        <p:nvPicPr>
          <p:cNvPr id="5" name="Image 1" descr="preencoded.png"/>
          <p:cNvPicPr>
            <a:picLocks noChangeAspect="1"/>
          </p:cNvPicPr>
          <p:nvPr/>
        </p:nvPicPr>
        <p:blipFill>
          <a:blip r:embed="rId4"/>
          <a:stretch>
            <a:fillRect/>
          </a:stretch>
        </p:blipFill>
        <p:spPr>
          <a:xfrm>
            <a:off x="646931" y="1265374"/>
            <a:ext cx="3166943" cy="1957268"/>
          </a:xfrm>
          <a:prstGeom prst="rect">
            <a:avLst/>
          </a:prstGeom>
        </p:spPr>
      </p:pic>
      <p:sp>
        <p:nvSpPr>
          <p:cNvPr id="6" name="Text 2"/>
          <p:cNvSpPr/>
          <p:nvPr/>
        </p:nvSpPr>
        <p:spPr>
          <a:xfrm>
            <a:off x="538611" y="3373795"/>
            <a:ext cx="1555313" cy="243007"/>
          </a:xfrm>
          <a:prstGeom prst="rect">
            <a:avLst/>
          </a:prstGeom>
          <a:noFill/>
          <a:ln/>
        </p:spPr>
        <p:txBody>
          <a:bodyPr wrap="none" rtlCol="0" anchor="t"/>
          <a:lstStyle/>
          <a:p>
            <a:pPr marL="0" indent="0" algn="l">
              <a:lnSpc>
                <a:spcPts val="1914"/>
              </a:lnSpc>
              <a:buNone/>
            </a:pPr>
            <a:r>
              <a:rPr lang="en-US" sz="1531" dirty="0">
                <a:solidFill>
                  <a:srgbClr val="1F1E1E"/>
                </a:solidFill>
                <a:latin typeface="Red Hat Text" pitchFamily="34" charset="0"/>
                <a:ea typeface="Red Hat Text" pitchFamily="34" charset="-122"/>
                <a:cs typeface="Red Hat Text" pitchFamily="34" charset="-120"/>
              </a:rPr>
              <a:t>Accessibility</a:t>
            </a:r>
            <a:endParaRPr lang="en-US" sz="1531" dirty="0"/>
          </a:p>
        </p:txBody>
      </p:sp>
      <p:sp>
        <p:nvSpPr>
          <p:cNvPr id="7" name="Text 3"/>
          <p:cNvSpPr/>
          <p:nvPr/>
        </p:nvSpPr>
        <p:spPr>
          <a:xfrm>
            <a:off x="510453" y="4027185"/>
            <a:ext cx="3166943" cy="3799749"/>
          </a:xfrm>
          <a:prstGeom prst="rect">
            <a:avLst/>
          </a:prstGeom>
          <a:noFill/>
          <a:ln/>
        </p:spPr>
        <p:txBody>
          <a:bodyPr wrap="square" rtlCol="0" anchor="t"/>
          <a:lstStyle/>
          <a:p>
            <a:pPr marL="0" indent="0">
              <a:lnSpc>
                <a:spcPts val="1960"/>
              </a:lnSpc>
              <a:buNone/>
            </a:pPr>
            <a:r>
              <a:rPr lang="en-US" dirty="0">
                <a:solidFill>
                  <a:srgbClr val="3B3535"/>
                </a:solidFill>
                <a:latin typeface="Roboto" pitchFamily="34" charset="0"/>
                <a:ea typeface="Roboto" pitchFamily="34" charset="-122"/>
                <a:cs typeface="Roboto" pitchFamily="34" charset="-120"/>
              </a:rPr>
              <a:t>Challenges to mental health treatment access can be addressed via AI-enabled teletherapy and other platforms that offer remote consultations with practitioners.</a:t>
            </a:r>
            <a:endParaRPr lang="en-US" dirty="0"/>
          </a:p>
        </p:txBody>
      </p:sp>
      <p:pic>
        <p:nvPicPr>
          <p:cNvPr id="8" name="Image 2" descr="preencoded.png"/>
          <p:cNvPicPr>
            <a:picLocks noChangeAspect="1"/>
          </p:cNvPicPr>
          <p:nvPr/>
        </p:nvPicPr>
        <p:blipFill>
          <a:blip r:embed="rId5"/>
          <a:stretch>
            <a:fillRect/>
          </a:stretch>
        </p:blipFill>
        <p:spPr>
          <a:xfrm>
            <a:off x="5848290" y="1248351"/>
            <a:ext cx="3166943" cy="1957268"/>
          </a:xfrm>
          <a:prstGeom prst="rect">
            <a:avLst/>
          </a:prstGeom>
        </p:spPr>
      </p:pic>
      <p:sp>
        <p:nvSpPr>
          <p:cNvPr id="9" name="Text 4"/>
          <p:cNvSpPr/>
          <p:nvPr/>
        </p:nvSpPr>
        <p:spPr>
          <a:xfrm>
            <a:off x="5848289" y="3428886"/>
            <a:ext cx="3166943" cy="486013"/>
          </a:xfrm>
          <a:prstGeom prst="rect">
            <a:avLst/>
          </a:prstGeom>
          <a:noFill/>
          <a:ln/>
        </p:spPr>
        <p:txBody>
          <a:bodyPr wrap="square" rtlCol="0" anchor="t"/>
          <a:lstStyle/>
          <a:p>
            <a:pPr marL="0" indent="0" algn="l">
              <a:lnSpc>
                <a:spcPts val="1914"/>
              </a:lnSpc>
              <a:buNone/>
            </a:pPr>
            <a:r>
              <a:rPr lang="en-US" sz="1531" dirty="0">
                <a:solidFill>
                  <a:srgbClr val="1F1E1E"/>
                </a:solidFill>
                <a:latin typeface="Red Hat Text" pitchFamily="34" charset="0"/>
                <a:ea typeface="Red Hat Text" pitchFamily="34" charset="-122"/>
                <a:cs typeface="Red Hat Text" pitchFamily="34" charset="-120"/>
              </a:rPr>
              <a:t>Artificial Intelligence-assisted therapy</a:t>
            </a:r>
            <a:endParaRPr lang="en-US" sz="1531" dirty="0"/>
          </a:p>
        </p:txBody>
      </p:sp>
      <p:sp>
        <p:nvSpPr>
          <p:cNvPr id="10" name="Text 5"/>
          <p:cNvSpPr/>
          <p:nvPr/>
        </p:nvSpPr>
        <p:spPr>
          <a:xfrm>
            <a:off x="5848290" y="4085510"/>
            <a:ext cx="3166943" cy="3065880"/>
          </a:xfrm>
          <a:prstGeom prst="rect">
            <a:avLst/>
          </a:prstGeom>
          <a:noFill/>
          <a:ln/>
        </p:spPr>
        <p:txBody>
          <a:bodyPr wrap="square" rtlCol="0" anchor="t"/>
          <a:lstStyle/>
          <a:p>
            <a:pPr marL="0" indent="0" algn="l">
              <a:lnSpc>
                <a:spcPts val="1960"/>
              </a:lnSpc>
              <a:buNone/>
            </a:pPr>
            <a:r>
              <a:rPr lang="en-US" dirty="0">
                <a:solidFill>
                  <a:srgbClr val="3B3535"/>
                </a:solidFill>
                <a:latin typeface="Roboto" pitchFamily="34" charset="0"/>
                <a:ea typeface="Roboto" pitchFamily="34" charset="-122"/>
                <a:cs typeface="Roboto" pitchFamily="34" charset="-120"/>
              </a:rPr>
              <a:t>AI systems can monitor a person's mental and emotional states and offer art-based therapies that help address specific problems and issues with cognition and mood.</a:t>
            </a:r>
            <a:endParaRPr lang="en-US" dirty="0"/>
          </a:p>
        </p:txBody>
      </p:sp>
      <p:pic>
        <p:nvPicPr>
          <p:cNvPr id="11" name="Image 3" descr="preencoded.png"/>
          <p:cNvPicPr>
            <a:picLocks noChangeAspect="1"/>
          </p:cNvPicPr>
          <p:nvPr/>
        </p:nvPicPr>
        <p:blipFill>
          <a:blip r:embed="rId6"/>
          <a:stretch>
            <a:fillRect/>
          </a:stretch>
        </p:blipFill>
        <p:spPr>
          <a:xfrm>
            <a:off x="10470475" y="1192652"/>
            <a:ext cx="3166943" cy="1957268"/>
          </a:xfrm>
          <a:prstGeom prst="rect">
            <a:avLst/>
          </a:prstGeom>
        </p:spPr>
      </p:pic>
      <p:sp>
        <p:nvSpPr>
          <p:cNvPr id="12" name="Text 6"/>
          <p:cNvSpPr/>
          <p:nvPr/>
        </p:nvSpPr>
        <p:spPr>
          <a:xfrm>
            <a:off x="10808935" y="3427395"/>
            <a:ext cx="1988820" cy="243007"/>
          </a:xfrm>
          <a:prstGeom prst="rect">
            <a:avLst/>
          </a:prstGeom>
          <a:noFill/>
          <a:ln/>
        </p:spPr>
        <p:txBody>
          <a:bodyPr wrap="none" rtlCol="0" anchor="t"/>
          <a:lstStyle/>
          <a:p>
            <a:pPr marL="0" indent="0" algn="l">
              <a:lnSpc>
                <a:spcPts val="1914"/>
              </a:lnSpc>
              <a:buNone/>
            </a:pPr>
            <a:r>
              <a:rPr lang="en-US" sz="1531" dirty="0">
                <a:solidFill>
                  <a:srgbClr val="1F1E1E"/>
                </a:solidFill>
                <a:latin typeface="Red Hat Text" pitchFamily="34" charset="0"/>
                <a:ea typeface="Red Hat Text" pitchFamily="34" charset="-122"/>
                <a:cs typeface="Red Hat Text" pitchFamily="34" charset="-120"/>
              </a:rPr>
              <a:t>Personalized Solutions</a:t>
            </a:r>
            <a:endParaRPr lang="en-US" sz="1531" dirty="0"/>
          </a:p>
        </p:txBody>
      </p:sp>
      <p:sp>
        <p:nvSpPr>
          <p:cNvPr id="13" name="Text 7"/>
          <p:cNvSpPr/>
          <p:nvPr/>
        </p:nvSpPr>
        <p:spPr>
          <a:xfrm>
            <a:off x="10492276" y="4085510"/>
            <a:ext cx="3166943" cy="2139905"/>
          </a:xfrm>
          <a:prstGeom prst="rect">
            <a:avLst/>
          </a:prstGeom>
          <a:noFill/>
          <a:ln/>
        </p:spPr>
        <p:txBody>
          <a:bodyPr wrap="square" rtlCol="0" anchor="t"/>
          <a:lstStyle/>
          <a:p>
            <a:pPr marL="0" indent="0" algn="l">
              <a:lnSpc>
                <a:spcPts val="1960"/>
              </a:lnSpc>
              <a:buNone/>
            </a:pPr>
            <a:r>
              <a:rPr lang="en-US" dirty="0">
                <a:solidFill>
                  <a:srgbClr val="3B3535"/>
                </a:solidFill>
                <a:latin typeface="Roboto" pitchFamily="34" charset="0"/>
                <a:ea typeface="Roboto" pitchFamily="34" charset="-122"/>
                <a:cs typeface="Roboto" pitchFamily="34" charset="-120"/>
              </a:rPr>
              <a:t>AI-powered algorithms allow healthcare providers to offer personalized treatment methods, particularly for stress-triggered conditions like anxiety, depression, and PTSD.</a:t>
            </a:r>
            <a:endParaRPr lang="en-US" dirty="0"/>
          </a:p>
        </p:txBody>
      </p:sp>
      <p:sp>
        <p:nvSpPr>
          <p:cNvPr id="15" name="TextBox 14">
            <a:extLst>
              <a:ext uri="{FF2B5EF4-FFF2-40B4-BE49-F238E27FC236}">
                <a16:creationId xmlns:a16="http://schemas.microsoft.com/office/drawing/2014/main" id="{DF0E521E-FD8B-E77F-D22E-5EF4413C01EE}"/>
              </a:ext>
            </a:extLst>
          </p:cNvPr>
          <p:cNvSpPr txBox="1"/>
          <p:nvPr/>
        </p:nvSpPr>
        <p:spPr>
          <a:xfrm>
            <a:off x="1182499" y="6826783"/>
            <a:ext cx="12454919" cy="1015663"/>
          </a:xfrm>
          <a:prstGeom prst="rect">
            <a:avLst/>
          </a:prstGeom>
          <a:noFill/>
        </p:spPr>
        <p:txBody>
          <a:bodyPr wrap="square" rtlCol="0">
            <a:spAutoFit/>
          </a:bodyPr>
          <a:lstStyle/>
          <a:p>
            <a:pPr algn="ctr"/>
            <a:r>
              <a:rPr lang="en-US" sz="6000" dirty="0"/>
              <a:t>The Importance of AI in Mental Health</a:t>
            </a:r>
            <a:endParaRPr lang="en-IN"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B4555A-9ADB-6FFF-BE8A-FF64D5124E14}"/>
              </a:ext>
            </a:extLst>
          </p:cNvPr>
          <p:cNvSpPr txBox="1"/>
          <p:nvPr/>
        </p:nvSpPr>
        <p:spPr>
          <a:xfrm>
            <a:off x="335280" y="1298644"/>
            <a:ext cx="4328160" cy="5632311"/>
          </a:xfrm>
          <a:prstGeom prst="rect">
            <a:avLst/>
          </a:prstGeom>
          <a:noFill/>
        </p:spPr>
        <p:txBody>
          <a:bodyPr wrap="square">
            <a:spAutoFit/>
          </a:bodyPr>
          <a:lstStyle/>
          <a:p>
            <a:pPr marL="342900" indent="-342900">
              <a:buFont typeface="Arial" panose="020B0604020202020204" pitchFamily="34" charset="0"/>
              <a:buChar char="•"/>
            </a:pPr>
            <a:r>
              <a:rPr lang="en-US" sz="2000" dirty="0">
                <a:effectLst/>
                <a:latin typeface="Roboto" panose="02000000000000000000" pitchFamily="2" charset="0"/>
                <a:ea typeface="Roboto" panose="02000000000000000000" pitchFamily="2" charset="0"/>
                <a:cs typeface="Roboto" panose="02000000000000000000" pitchFamily="2" charset="0"/>
              </a:rPr>
              <a:t>The app starts off with a GUI-based window created using the </a:t>
            </a:r>
            <a:r>
              <a:rPr lang="en-US" sz="2000" b="1" dirty="0" err="1">
                <a:effectLst/>
                <a:latin typeface="Roboto" panose="02000000000000000000" pitchFamily="2" charset="0"/>
                <a:ea typeface="Roboto" panose="02000000000000000000" pitchFamily="2" charset="0"/>
                <a:cs typeface="Roboto" panose="02000000000000000000" pitchFamily="2" charset="0"/>
              </a:rPr>
              <a:t>Tkinter</a:t>
            </a:r>
            <a:r>
              <a:rPr lang="en-US" sz="2000" dirty="0">
                <a:effectLst/>
                <a:latin typeface="Roboto" panose="02000000000000000000" pitchFamily="2" charset="0"/>
                <a:ea typeface="Roboto" panose="02000000000000000000" pitchFamily="2" charset="0"/>
                <a:cs typeface="Roboto" panose="02000000000000000000" pitchFamily="2" charset="0"/>
              </a:rPr>
              <a:t> library.</a:t>
            </a:r>
          </a:p>
          <a:p>
            <a:pPr marL="342900" indent="-342900">
              <a:buFont typeface="Arial" panose="020B0604020202020204" pitchFamily="34" charset="0"/>
              <a:buChar char="•"/>
            </a:pPr>
            <a:endParaRPr lang="en-US" sz="2000" dirty="0">
              <a:effectLst/>
              <a:latin typeface="Roboto" panose="02000000000000000000" pitchFamily="2" charset="0"/>
              <a:ea typeface="Roboto" panose="02000000000000000000" pitchFamily="2" charset="0"/>
              <a:cs typeface="Roboto" panose="02000000000000000000" pitchFamily="2" charset="0"/>
            </a:endParaRPr>
          </a:p>
          <a:p>
            <a:pPr marL="342900" indent="-342900">
              <a:buFont typeface="Arial" panose="020B0604020202020204" pitchFamily="34" charset="0"/>
              <a:buChar char="•"/>
            </a:pPr>
            <a:r>
              <a:rPr lang="en-US" sz="2000" dirty="0">
                <a:effectLst/>
                <a:latin typeface="Roboto" panose="02000000000000000000" pitchFamily="2" charset="0"/>
                <a:ea typeface="Roboto" panose="02000000000000000000" pitchFamily="2" charset="0"/>
                <a:cs typeface="Roboto" panose="02000000000000000000" pitchFamily="2" charset="0"/>
              </a:rPr>
              <a:t>The window is designed to look aesthetically pleasing and inviting for the user, and the </a:t>
            </a:r>
            <a:r>
              <a:rPr lang="en-US" sz="2000" dirty="0" err="1">
                <a:effectLst/>
                <a:latin typeface="Roboto" panose="02000000000000000000" pitchFamily="2" charset="0"/>
                <a:ea typeface="Roboto" panose="02000000000000000000" pitchFamily="2" charset="0"/>
                <a:cs typeface="Roboto" panose="02000000000000000000" pitchFamily="2" charset="0"/>
              </a:rPr>
              <a:t>colour</a:t>
            </a:r>
            <a:r>
              <a:rPr lang="en-US" sz="2000" dirty="0">
                <a:effectLst/>
                <a:latin typeface="Roboto" panose="02000000000000000000" pitchFamily="2" charset="0"/>
                <a:ea typeface="Roboto" panose="02000000000000000000" pitchFamily="2" charset="0"/>
                <a:cs typeface="Roboto" panose="02000000000000000000" pitchFamily="2" charset="0"/>
              </a:rPr>
              <a:t> used in the picture as well as in the background, which is known as </a:t>
            </a:r>
            <a:r>
              <a:rPr lang="en-US" sz="2000" b="1" dirty="0">
                <a:effectLst/>
                <a:latin typeface="Roboto" panose="02000000000000000000" pitchFamily="2" charset="0"/>
                <a:ea typeface="Roboto" panose="02000000000000000000" pitchFamily="2" charset="0"/>
                <a:cs typeface="Roboto" panose="02000000000000000000" pitchFamily="2" charset="0"/>
              </a:rPr>
              <a:t>"Blush"(Hex: #E8C7C8)</a:t>
            </a:r>
            <a:r>
              <a:rPr lang="en-US" sz="2000" dirty="0">
                <a:effectLst/>
                <a:latin typeface="Roboto" panose="02000000000000000000" pitchFamily="2" charset="0"/>
                <a:ea typeface="Roboto" panose="02000000000000000000" pitchFamily="2" charset="0"/>
                <a:cs typeface="Roboto" panose="02000000000000000000" pitchFamily="2" charset="0"/>
              </a:rPr>
              <a:t> is scientifically proven to be soothing to the brain</a:t>
            </a:r>
          </a:p>
          <a:p>
            <a:pPr marL="342900" indent="-342900">
              <a:buFont typeface="Arial" panose="020B0604020202020204" pitchFamily="34" charset="0"/>
              <a:buChar char="•"/>
            </a:pPr>
            <a:endParaRPr lang="en-US" sz="2000" dirty="0">
              <a:effectLst/>
              <a:latin typeface="Roboto" panose="02000000000000000000" pitchFamily="2" charset="0"/>
              <a:ea typeface="Roboto" panose="02000000000000000000" pitchFamily="2" charset="0"/>
              <a:cs typeface="Roboto" panose="02000000000000000000" pitchFamily="2" charset="0"/>
            </a:endParaRPr>
          </a:p>
          <a:p>
            <a:pPr marL="342900" indent="-342900">
              <a:buFont typeface="Arial" panose="020B0604020202020204" pitchFamily="34" charset="0"/>
              <a:buChar char="•"/>
            </a:pPr>
            <a:r>
              <a:rPr lang="en-US" sz="2000" dirty="0">
                <a:effectLst/>
                <a:latin typeface="Roboto" panose="02000000000000000000" pitchFamily="2" charset="0"/>
                <a:ea typeface="Roboto" panose="02000000000000000000" pitchFamily="2" charset="0"/>
                <a:cs typeface="Roboto" panose="02000000000000000000" pitchFamily="2" charset="0"/>
              </a:rPr>
              <a:t>The window consists of </a:t>
            </a:r>
            <a:r>
              <a:rPr lang="en-US" sz="2000" b="1" dirty="0">
                <a:effectLst/>
                <a:latin typeface="Roboto" panose="02000000000000000000" pitchFamily="2" charset="0"/>
                <a:ea typeface="Roboto" panose="02000000000000000000" pitchFamily="2" charset="0"/>
                <a:cs typeface="Roboto" panose="02000000000000000000" pitchFamily="2" charset="0"/>
              </a:rPr>
              <a:t>a</a:t>
            </a:r>
            <a:r>
              <a:rPr lang="en-US" sz="2000" dirty="0">
                <a:effectLst/>
                <a:latin typeface="Roboto" panose="02000000000000000000" pitchFamily="2" charset="0"/>
                <a:ea typeface="Roboto" panose="02000000000000000000" pitchFamily="2" charset="0"/>
                <a:cs typeface="Roboto" panose="02000000000000000000" pitchFamily="2" charset="0"/>
              </a:rPr>
              <a:t> </a:t>
            </a:r>
            <a:r>
              <a:rPr lang="en-US" sz="2000" b="1" dirty="0">
                <a:effectLst/>
                <a:latin typeface="Roboto" panose="02000000000000000000" pitchFamily="2" charset="0"/>
                <a:ea typeface="Roboto" panose="02000000000000000000" pitchFamily="2" charset="0"/>
                <a:cs typeface="Roboto" panose="02000000000000000000" pitchFamily="2" charset="0"/>
              </a:rPr>
              <a:t>heading</a:t>
            </a:r>
            <a:r>
              <a:rPr lang="en-US" sz="2000" dirty="0">
                <a:effectLst/>
                <a:latin typeface="Roboto" panose="02000000000000000000" pitchFamily="2" charset="0"/>
                <a:ea typeface="Roboto" panose="02000000000000000000" pitchFamily="2" charset="0"/>
                <a:cs typeface="Roboto" panose="02000000000000000000" pitchFamily="2" charset="0"/>
              </a:rPr>
              <a:t>, </a:t>
            </a:r>
            <a:r>
              <a:rPr lang="en-US" sz="2000" b="1" dirty="0">
                <a:effectLst/>
                <a:latin typeface="Roboto" panose="02000000000000000000" pitchFamily="2" charset="0"/>
                <a:ea typeface="Roboto" panose="02000000000000000000" pitchFamily="2" charset="0"/>
                <a:cs typeface="Roboto" panose="02000000000000000000" pitchFamily="2" charset="0"/>
              </a:rPr>
              <a:t>two text boxes for the user to input their queries</a:t>
            </a:r>
            <a:r>
              <a:rPr lang="en-US" sz="2000" dirty="0">
                <a:effectLst/>
                <a:latin typeface="Roboto" panose="02000000000000000000" pitchFamily="2" charset="0"/>
                <a:ea typeface="Roboto" panose="02000000000000000000" pitchFamily="2" charset="0"/>
                <a:cs typeface="Roboto" panose="02000000000000000000" pitchFamily="2" charset="0"/>
              </a:rPr>
              <a:t>, </a:t>
            </a:r>
            <a:r>
              <a:rPr lang="en-US" sz="2000" b="1" dirty="0">
                <a:effectLst/>
                <a:latin typeface="Roboto" panose="02000000000000000000" pitchFamily="2" charset="0"/>
                <a:ea typeface="Roboto" panose="02000000000000000000" pitchFamily="2" charset="0"/>
                <a:cs typeface="Roboto" panose="02000000000000000000" pitchFamily="2" charset="0"/>
              </a:rPr>
              <a:t>four buttons to search for help</a:t>
            </a:r>
            <a:r>
              <a:rPr lang="en-US" sz="2000" dirty="0">
                <a:effectLst/>
                <a:latin typeface="Roboto" panose="02000000000000000000" pitchFamily="2" charset="0"/>
                <a:ea typeface="Roboto" panose="02000000000000000000" pitchFamily="2" charset="0"/>
                <a:cs typeface="Roboto" panose="02000000000000000000" pitchFamily="2" charset="0"/>
              </a:rPr>
              <a:t> and </a:t>
            </a:r>
            <a:r>
              <a:rPr lang="en-US" sz="2000" b="1" dirty="0">
                <a:effectLst/>
                <a:latin typeface="Roboto" panose="02000000000000000000" pitchFamily="2" charset="0"/>
                <a:ea typeface="Roboto" panose="02000000000000000000" pitchFamily="2" charset="0"/>
                <a:cs typeface="Roboto" panose="02000000000000000000" pitchFamily="2" charset="0"/>
              </a:rPr>
              <a:t>a label</a:t>
            </a:r>
            <a:r>
              <a:rPr lang="en-US" sz="2000" dirty="0">
                <a:effectLst/>
                <a:latin typeface="Roboto" panose="02000000000000000000" pitchFamily="2" charset="0"/>
                <a:ea typeface="Roboto" panose="02000000000000000000" pitchFamily="2" charset="0"/>
                <a:cs typeface="Roboto" panose="02000000000000000000" pitchFamily="2" charset="0"/>
              </a:rPr>
              <a:t> which displays the output</a:t>
            </a:r>
            <a:endParaRPr lang="en-IN" sz="2000" dirty="0">
              <a:latin typeface="Roboto" panose="02000000000000000000" pitchFamily="2" charset="0"/>
              <a:ea typeface="Roboto" panose="02000000000000000000" pitchFamily="2" charset="0"/>
              <a:cs typeface="Roboto" panose="02000000000000000000" pitchFamily="2" charset="0"/>
            </a:endParaRPr>
          </a:p>
        </p:txBody>
      </p:sp>
      <p:pic>
        <p:nvPicPr>
          <p:cNvPr id="5" name="Picture 4">
            <a:extLst>
              <a:ext uri="{FF2B5EF4-FFF2-40B4-BE49-F238E27FC236}">
                <a16:creationId xmlns:a16="http://schemas.microsoft.com/office/drawing/2014/main" id="{9D364D43-36C8-DED9-0BE0-A474F4B191CC}"/>
              </a:ext>
            </a:extLst>
          </p:cNvPr>
          <p:cNvPicPr>
            <a:picLocks noChangeAspect="1"/>
          </p:cNvPicPr>
          <p:nvPr/>
        </p:nvPicPr>
        <p:blipFill>
          <a:blip r:embed="rId2"/>
          <a:stretch>
            <a:fillRect/>
          </a:stretch>
        </p:blipFill>
        <p:spPr>
          <a:xfrm>
            <a:off x="4861560" y="273987"/>
            <a:ext cx="9624620" cy="7681626"/>
          </a:xfrm>
          <a:prstGeom prst="rect">
            <a:avLst/>
          </a:prstGeom>
        </p:spPr>
      </p:pic>
    </p:spTree>
    <p:extLst>
      <p:ext uri="{BB962C8B-B14F-4D97-AF65-F5344CB8AC3E}">
        <p14:creationId xmlns:p14="http://schemas.microsoft.com/office/powerpoint/2010/main" val="1433452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14668" y="372982"/>
            <a:ext cx="14630400" cy="8229600"/>
          </a:xfrm>
          <a:prstGeom prst="rect">
            <a:avLst/>
          </a:prstGeom>
          <a:solidFill>
            <a:srgbClr val="FFFAFA"/>
          </a:solidFill>
          <a:ln/>
        </p:spPr>
      </p:sp>
      <p:sp>
        <p:nvSpPr>
          <p:cNvPr id="4" name="Text 1"/>
          <p:cNvSpPr/>
          <p:nvPr/>
        </p:nvSpPr>
        <p:spPr>
          <a:xfrm>
            <a:off x="1428231" y="179606"/>
            <a:ext cx="11560434" cy="849106"/>
          </a:xfrm>
          <a:prstGeom prst="rect">
            <a:avLst/>
          </a:prstGeom>
          <a:noFill/>
          <a:ln/>
        </p:spPr>
        <p:txBody>
          <a:bodyPr wrap="square" rtlCol="0" anchor="t"/>
          <a:lstStyle/>
          <a:p>
            <a:pPr marL="0" indent="0" algn="ctr">
              <a:lnSpc>
                <a:spcPts val="5468"/>
              </a:lnSpc>
              <a:buNone/>
            </a:pPr>
            <a:r>
              <a:rPr lang="en-US" sz="4374" dirty="0">
                <a:solidFill>
                  <a:srgbClr val="1F1E1E"/>
                </a:solidFill>
                <a:latin typeface="Red Hat Text" pitchFamily="34" charset="0"/>
                <a:ea typeface="Red Hat Text" pitchFamily="34" charset="-122"/>
                <a:cs typeface="Red Hat Text" pitchFamily="34" charset="-120"/>
              </a:rPr>
              <a:t>What is the AI-Based Mental Health Assistant?</a:t>
            </a:r>
            <a:endParaRPr lang="en-US" sz="4374" dirty="0"/>
          </a:p>
        </p:txBody>
      </p:sp>
      <p:sp>
        <p:nvSpPr>
          <p:cNvPr id="5" name="Shape 2"/>
          <p:cNvSpPr/>
          <p:nvPr/>
        </p:nvSpPr>
        <p:spPr>
          <a:xfrm>
            <a:off x="260205" y="1488709"/>
            <a:ext cx="4579739" cy="2790706"/>
          </a:xfrm>
          <a:prstGeom prst="roundRect">
            <a:avLst>
              <a:gd name="adj" fmla="val 4777"/>
            </a:avLst>
          </a:prstGeom>
          <a:solidFill>
            <a:srgbClr val="FFE0E0"/>
          </a:solidFill>
          <a:ln/>
        </p:spPr>
      </p:sp>
      <p:sp>
        <p:nvSpPr>
          <p:cNvPr id="6" name="Text 3"/>
          <p:cNvSpPr/>
          <p:nvPr/>
        </p:nvSpPr>
        <p:spPr>
          <a:xfrm>
            <a:off x="1463331" y="1659291"/>
            <a:ext cx="2221944" cy="347186"/>
          </a:xfrm>
          <a:prstGeom prst="rect">
            <a:avLst/>
          </a:prstGeom>
          <a:noFill/>
          <a:ln/>
        </p:spPr>
        <p:txBody>
          <a:bodyPr wrap="none" rtlCol="0" anchor="t"/>
          <a:lstStyle/>
          <a:p>
            <a:pPr marL="0" indent="0" algn="ctr">
              <a:lnSpc>
                <a:spcPts val="2734"/>
              </a:lnSpc>
              <a:buNone/>
            </a:pPr>
            <a:r>
              <a:rPr lang="en-US" sz="2187" b="1" dirty="0">
                <a:solidFill>
                  <a:srgbClr val="1F1E1E"/>
                </a:solidFill>
                <a:latin typeface="Red Hat Text" pitchFamily="34" charset="0"/>
                <a:ea typeface="Red Hat Text" pitchFamily="34" charset="-122"/>
                <a:cs typeface="Red Hat Text" pitchFamily="34" charset="-120"/>
              </a:rPr>
              <a:t>Functionality</a:t>
            </a:r>
            <a:endParaRPr lang="en-US" sz="2187" b="1" dirty="0"/>
          </a:p>
        </p:txBody>
      </p:sp>
      <p:sp>
        <p:nvSpPr>
          <p:cNvPr id="7" name="Text 4"/>
          <p:cNvSpPr/>
          <p:nvPr/>
        </p:nvSpPr>
        <p:spPr>
          <a:xfrm>
            <a:off x="444339" y="2171250"/>
            <a:ext cx="4135398" cy="1931068"/>
          </a:xfrm>
          <a:prstGeom prst="rect">
            <a:avLst/>
          </a:prstGeom>
          <a:noFill/>
          <a:ln/>
        </p:spPr>
        <p:txBody>
          <a:bodyPr wrap="square" rtlCol="0" anchor="t"/>
          <a:lstStyle/>
          <a:p>
            <a:pPr marL="0" indent="0" algn="ctr">
              <a:lnSpc>
                <a:spcPts val="2799"/>
              </a:lnSpc>
              <a:buNone/>
            </a:pPr>
            <a:r>
              <a:rPr lang="en-US" sz="1750" dirty="0">
                <a:solidFill>
                  <a:srgbClr val="3B3535"/>
                </a:solidFill>
                <a:latin typeface="Roboto" pitchFamily="34" charset="0"/>
                <a:ea typeface="Roboto" pitchFamily="34" charset="-122"/>
                <a:cs typeface="Roboto" pitchFamily="34" charset="-120"/>
              </a:rPr>
              <a:t>It's an app that uses AI and machine learning to provide mental health services to patients in a convenient and efficient manner</a:t>
            </a:r>
            <a:endParaRPr lang="en-US" sz="1750" dirty="0"/>
          </a:p>
        </p:txBody>
      </p:sp>
      <p:sp>
        <p:nvSpPr>
          <p:cNvPr id="8" name="Shape 5"/>
          <p:cNvSpPr/>
          <p:nvPr/>
        </p:nvSpPr>
        <p:spPr>
          <a:xfrm>
            <a:off x="5111880" y="1488709"/>
            <a:ext cx="4579739" cy="2790706"/>
          </a:xfrm>
          <a:prstGeom prst="roundRect">
            <a:avLst>
              <a:gd name="adj" fmla="val 4777"/>
            </a:avLst>
          </a:prstGeom>
          <a:solidFill>
            <a:srgbClr val="FFE0E0"/>
          </a:solidFill>
          <a:ln/>
        </p:spPr>
        <p:txBody>
          <a:bodyPr/>
          <a:lstStyle/>
          <a:p>
            <a:endParaRPr lang="en-IN" dirty="0"/>
          </a:p>
        </p:txBody>
      </p:sp>
      <p:sp>
        <p:nvSpPr>
          <p:cNvPr id="11" name="Shape 8"/>
          <p:cNvSpPr/>
          <p:nvPr/>
        </p:nvSpPr>
        <p:spPr>
          <a:xfrm>
            <a:off x="5417053" y="4656572"/>
            <a:ext cx="9028160" cy="2790706"/>
          </a:xfrm>
          <a:prstGeom prst="roundRect">
            <a:avLst>
              <a:gd name="adj" fmla="val 7731"/>
            </a:avLst>
          </a:prstGeom>
          <a:solidFill>
            <a:srgbClr val="FFE0E0"/>
          </a:solidFill>
          <a:ln/>
        </p:spPr>
        <p:txBody>
          <a:bodyPr/>
          <a:lstStyle/>
          <a:p>
            <a:endParaRPr lang="en-IN" dirty="0"/>
          </a:p>
        </p:txBody>
      </p:sp>
      <p:sp>
        <p:nvSpPr>
          <p:cNvPr id="12" name="Text 9"/>
          <p:cNvSpPr/>
          <p:nvPr/>
        </p:nvSpPr>
        <p:spPr>
          <a:xfrm>
            <a:off x="2846546" y="5897642"/>
            <a:ext cx="2221944" cy="347186"/>
          </a:xfrm>
          <a:prstGeom prst="rect">
            <a:avLst/>
          </a:prstGeom>
          <a:noFill/>
          <a:ln/>
        </p:spPr>
        <p:txBody>
          <a:bodyPr wrap="none" rtlCol="0" anchor="t"/>
          <a:lstStyle/>
          <a:p>
            <a:pPr marL="0" indent="0">
              <a:lnSpc>
                <a:spcPts val="2734"/>
              </a:lnSpc>
              <a:buNone/>
            </a:pPr>
            <a:r>
              <a:rPr lang="en-US" sz="2187" dirty="0">
                <a:solidFill>
                  <a:srgbClr val="1F1E1E"/>
                </a:solidFill>
                <a:latin typeface="Red Hat Text" pitchFamily="34" charset="0"/>
                <a:ea typeface="Red Hat Text" pitchFamily="34" charset="-122"/>
                <a:cs typeface="Red Hat Text" pitchFamily="34" charset="-120"/>
              </a:rPr>
              <a:t>Benefits</a:t>
            </a:r>
            <a:endParaRPr lang="en-US" sz="2187" dirty="0"/>
          </a:p>
        </p:txBody>
      </p:sp>
      <p:sp>
        <p:nvSpPr>
          <p:cNvPr id="15" name="Shape 5">
            <a:extLst>
              <a:ext uri="{FF2B5EF4-FFF2-40B4-BE49-F238E27FC236}">
                <a16:creationId xmlns:a16="http://schemas.microsoft.com/office/drawing/2014/main" id="{4D45C3B7-B250-B8A8-BB0C-1FAE1C50C81E}"/>
              </a:ext>
            </a:extLst>
          </p:cNvPr>
          <p:cNvSpPr/>
          <p:nvPr/>
        </p:nvSpPr>
        <p:spPr>
          <a:xfrm>
            <a:off x="9915098" y="1523320"/>
            <a:ext cx="4579739" cy="2790706"/>
          </a:xfrm>
          <a:prstGeom prst="roundRect">
            <a:avLst>
              <a:gd name="adj" fmla="val 4777"/>
            </a:avLst>
          </a:prstGeom>
          <a:solidFill>
            <a:srgbClr val="FFE0E0"/>
          </a:solidFill>
          <a:ln/>
        </p:spPr>
      </p:sp>
      <p:sp>
        <p:nvSpPr>
          <p:cNvPr id="16" name="Shape 5">
            <a:extLst>
              <a:ext uri="{FF2B5EF4-FFF2-40B4-BE49-F238E27FC236}">
                <a16:creationId xmlns:a16="http://schemas.microsoft.com/office/drawing/2014/main" id="{61C983DE-C6A1-AD6E-43D6-E755B4B9C51E}"/>
              </a:ext>
            </a:extLst>
          </p:cNvPr>
          <p:cNvSpPr/>
          <p:nvPr/>
        </p:nvSpPr>
        <p:spPr>
          <a:xfrm>
            <a:off x="222169" y="4656572"/>
            <a:ext cx="4579739" cy="2790706"/>
          </a:xfrm>
          <a:prstGeom prst="roundRect">
            <a:avLst>
              <a:gd name="adj" fmla="val 4777"/>
            </a:avLst>
          </a:prstGeom>
          <a:solidFill>
            <a:srgbClr val="FFE0E0"/>
          </a:solidFill>
          <a:ln/>
        </p:spPr>
      </p:sp>
      <p:sp>
        <p:nvSpPr>
          <p:cNvPr id="21" name="Text 4">
            <a:extLst>
              <a:ext uri="{FF2B5EF4-FFF2-40B4-BE49-F238E27FC236}">
                <a16:creationId xmlns:a16="http://schemas.microsoft.com/office/drawing/2014/main" id="{108D3C8C-CF71-9A89-9679-607CDDD85EFC}"/>
              </a:ext>
            </a:extLst>
          </p:cNvPr>
          <p:cNvSpPr/>
          <p:nvPr/>
        </p:nvSpPr>
        <p:spPr>
          <a:xfrm>
            <a:off x="444339" y="5308214"/>
            <a:ext cx="4135398" cy="2236689"/>
          </a:xfrm>
          <a:prstGeom prst="rect">
            <a:avLst/>
          </a:prstGeom>
          <a:noFill/>
          <a:ln/>
        </p:spPr>
        <p:txBody>
          <a:bodyPr wrap="square" rtlCol="0" anchor="t"/>
          <a:lstStyle/>
          <a:p>
            <a:pPr marL="0" indent="0" algn="ctr">
              <a:lnSpc>
                <a:spcPts val="2799"/>
              </a:lnSpc>
              <a:buNone/>
            </a:pPr>
            <a:r>
              <a:rPr lang="en-US" sz="2000" dirty="0">
                <a:effectLst/>
                <a:latin typeface="Calibri" panose="020F0502020204030204" pitchFamily="34" charset="0"/>
              </a:rPr>
              <a:t>The code also uses the </a:t>
            </a:r>
            <a:r>
              <a:rPr lang="en-US" sz="2000" b="1" dirty="0" err="1">
                <a:effectLst/>
                <a:latin typeface="Calibri" panose="020F0502020204030204" pitchFamily="34" charset="0"/>
              </a:rPr>
              <a:t>Onedrive</a:t>
            </a:r>
            <a:r>
              <a:rPr lang="en-US" sz="2000" b="1" dirty="0">
                <a:effectLst/>
                <a:latin typeface="Calibri" panose="020F0502020204030204" pitchFamily="34" charset="0"/>
              </a:rPr>
              <a:t> API</a:t>
            </a:r>
            <a:r>
              <a:rPr lang="en-US" sz="2000" dirty="0">
                <a:effectLst/>
                <a:latin typeface="Calibri" panose="020F0502020204030204" pitchFamily="34" charset="0"/>
              </a:rPr>
              <a:t> to provide direct download links for the background image from my MS </a:t>
            </a:r>
            <a:r>
              <a:rPr lang="en-US" sz="2000" dirty="0" err="1">
                <a:effectLst/>
                <a:latin typeface="Calibri" panose="020F0502020204030204" pitchFamily="34" charset="0"/>
              </a:rPr>
              <a:t>Onedrive</a:t>
            </a:r>
            <a:r>
              <a:rPr lang="en-US" sz="2000" dirty="0">
                <a:effectLst/>
                <a:latin typeface="Calibri" panose="020F0502020204030204" pitchFamily="34" charset="0"/>
              </a:rPr>
              <a:t> account</a:t>
            </a:r>
            <a:endParaRPr lang="en-US" sz="2000" dirty="0"/>
          </a:p>
        </p:txBody>
      </p:sp>
      <p:sp>
        <p:nvSpPr>
          <p:cNvPr id="22" name="Text 4">
            <a:extLst>
              <a:ext uri="{FF2B5EF4-FFF2-40B4-BE49-F238E27FC236}">
                <a16:creationId xmlns:a16="http://schemas.microsoft.com/office/drawing/2014/main" id="{6B9E2B54-F976-8016-FF05-80C8080C4756}"/>
              </a:ext>
            </a:extLst>
          </p:cNvPr>
          <p:cNvSpPr/>
          <p:nvPr/>
        </p:nvSpPr>
        <p:spPr>
          <a:xfrm>
            <a:off x="10234797" y="2135575"/>
            <a:ext cx="4135398" cy="2143840"/>
          </a:xfrm>
          <a:prstGeom prst="rect">
            <a:avLst/>
          </a:prstGeom>
          <a:noFill/>
          <a:ln/>
        </p:spPr>
        <p:txBody>
          <a:bodyPr wrap="square" rtlCol="0" anchor="t"/>
          <a:lstStyle/>
          <a:p>
            <a:pPr marL="0" indent="0" algn="ctr">
              <a:lnSpc>
                <a:spcPts val="2799"/>
              </a:lnSpc>
              <a:buNone/>
            </a:pPr>
            <a:r>
              <a:rPr lang="en-US" sz="2000" dirty="0">
                <a:effectLst/>
                <a:latin typeface="Calibri" panose="020F0502020204030204" pitchFamily="34" charset="0"/>
              </a:rPr>
              <a:t>The code is written in Python and uses various modules such as </a:t>
            </a:r>
            <a:r>
              <a:rPr lang="en-US" sz="2000" b="1" dirty="0" err="1">
                <a:effectLst/>
                <a:latin typeface="Calibri" panose="020F0502020204030204" pitchFamily="34" charset="0"/>
              </a:rPr>
              <a:t>tkinter</a:t>
            </a:r>
            <a:r>
              <a:rPr lang="en-US" sz="2000" dirty="0">
                <a:effectLst/>
                <a:latin typeface="Calibri" panose="020F0502020204030204" pitchFamily="34" charset="0"/>
              </a:rPr>
              <a:t>, </a:t>
            </a:r>
            <a:r>
              <a:rPr lang="en-US" sz="2000" b="1" dirty="0" err="1">
                <a:effectLst/>
                <a:latin typeface="Calibri" panose="020F0502020204030204" pitchFamily="34" charset="0"/>
              </a:rPr>
              <a:t>gtts</a:t>
            </a:r>
            <a:r>
              <a:rPr lang="en-US" sz="2000" dirty="0">
                <a:effectLst/>
                <a:latin typeface="Calibri" panose="020F0502020204030204" pitchFamily="34" charset="0"/>
              </a:rPr>
              <a:t>, </a:t>
            </a:r>
            <a:r>
              <a:rPr lang="en-US" sz="2000" b="1" dirty="0">
                <a:effectLst/>
                <a:latin typeface="Calibri" panose="020F0502020204030204" pitchFamily="34" charset="0"/>
              </a:rPr>
              <a:t>time</a:t>
            </a:r>
            <a:r>
              <a:rPr lang="en-US" sz="2000" dirty="0">
                <a:effectLst/>
                <a:latin typeface="Calibri" panose="020F0502020204030204" pitchFamily="34" charset="0"/>
              </a:rPr>
              <a:t>, </a:t>
            </a:r>
            <a:r>
              <a:rPr lang="en-US" sz="2000" b="1" dirty="0">
                <a:effectLst/>
                <a:latin typeface="Calibri" panose="020F0502020204030204" pitchFamily="34" charset="0"/>
              </a:rPr>
              <a:t>pillow</a:t>
            </a:r>
            <a:r>
              <a:rPr lang="en-US" sz="2000" dirty="0">
                <a:effectLst/>
                <a:latin typeface="Calibri" panose="020F0502020204030204" pitchFamily="34" charset="0"/>
              </a:rPr>
              <a:t>, and web-oriented modules</a:t>
            </a:r>
            <a:endParaRPr lang="en-US" sz="2000" dirty="0"/>
          </a:p>
        </p:txBody>
      </p:sp>
      <p:sp>
        <p:nvSpPr>
          <p:cNvPr id="23" name="Text 4">
            <a:extLst>
              <a:ext uri="{FF2B5EF4-FFF2-40B4-BE49-F238E27FC236}">
                <a16:creationId xmlns:a16="http://schemas.microsoft.com/office/drawing/2014/main" id="{13AE8533-6C68-ACAC-E0F9-CC8235F4BE7A}"/>
              </a:ext>
            </a:extLst>
          </p:cNvPr>
          <p:cNvSpPr/>
          <p:nvPr/>
        </p:nvSpPr>
        <p:spPr>
          <a:xfrm>
            <a:off x="5311021" y="2171250"/>
            <a:ext cx="4037695" cy="1573173"/>
          </a:xfrm>
          <a:prstGeom prst="rect">
            <a:avLst/>
          </a:prstGeom>
          <a:noFill/>
          <a:ln/>
        </p:spPr>
        <p:txBody>
          <a:bodyPr wrap="square" rtlCol="0" anchor="t"/>
          <a:lstStyle/>
          <a:p>
            <a:pPr marL="0" indent="0" algn="ctr">
              <a:lnSpc>
                <a:spcPts val="2799"/>
              </a:lnSpc>
              <a:buNone/>
            </a:pPr>
            <a:r>
              <a:rPr lang="en-US" sz="2000" dirty="0">
                <a:effectLst/>
                <a:latin typeface="Calibri" panose="020F0502020204030204" pitchFamily="34" charset="0"/>
              </a:rPr>
              <a:t>The project is written in </a:t>
            </a:r>
            <a:r>
              <a:rPr lang="en-US" sz="2000" b="1" dirty="0">
                <a:effectLst/>
                <a:latin typeface="Calibri" panose="020F0502020204030204" pitchFamily="34" charset="0"/>
              </a:rPr>
              <a:t>Python</a:t>
            </a:r>
            <a:r>
              <a:rPr lang="en-US" sz="2000" dirty="0">
                <a:effectLst/>
                <a:latin typeface="Calibri" panose="020F0502020204030204" pitchFamily="34" charset="0"/>
              </a:rPr>
              <a:t> and is powered by </a:t>
            </a:r>
            <a:r>
              <a:rPr lang="en-US" sz="2000" b="1" dirty="0">
                <a:effectLst/>
                <a:latin typeface="Calibri" panose="020F0502020204030204" pitchFamily="34" charset="0"/>
              </a:rPr>
              <a:t>OpenAI’s GPT-3.5 Turbo</a:t>
            </a:r>
            <a:r>
              <a:rPr lang="en-US" sz="2000" dirty="0">
                <a:effectLst/>
                <a:latin typeface="Calibri" panose="020F0502020204030204" pitchFamily="34" charset="0"/>
              </a:rPr>
              <a:t> and </a:t>
            </a:r>
            <a:r>
              <a:rPr lang="en-US" sz="2000" b="1" dirty="0">
                <a:effectLst/>
                <a:latin typeface="Calibri" panose="020F0502020204030204" pitchFamily="34" charset="0"/>
              </a:rPr>
              <a:t>Google’s TTS</a:t>
            </a:r>
            <a:r>
              <a:rPr lang="en-US" sz="2000" dirty="0">
                <a:effectLst/>
                <a:latin typeface="Calibri" panose="020F0502020204030204" pitchFamily="34" charset="0"/>
              </a:rPr>
              <a:t> engine</a:t>
            </a:r>
            <a:endParaRPr lang="en-US" sz="2000" dirty="0"/>
          </a:p>
        </p:txBody>
      </p:sp>
      <p:sp>
        <p:nvSpPr>
          <p:cNvPr id="24" name="Text 4">
            <a:extLst>
              <a:ext uri="{FF2B5EF4-FFF2-40B4-BE49-F238E27FC236}">
                <a16:creationId xmlns:a16="http://schemas.microsoft.com/office/drawing/2014/main" id="{D39783BC-D0A6-DECD-6914-C2C883E24003}"/>
              </a:ext>
            </a:extLst>
          </p:cNvPr>
          <p:cNvSpPr/>
          <p:nvPr/>
        </p:nvSpPr>
        <p:spPr>
          <a:xfrm>
            <a:off x="5868537" y="5188105"/>
            <a:ext cx="8093123" cy="2208981"/>
          </a:xfrm>
          <a:prstGeom prst="rect">
            <a:avLst/>
          </a:prstGeom>
          <a:noFill/>
          <a:ln/>
        </p:spPr>
        <p:txBody>
          <a:bodyPr wrap="square" rtlCol="0" anchor="t"/>
          <a:lstStyle/>
          <a:p>
            <a:pPr marL="0" indent="0" algn="ctr">
              <a:lnSpc>
                <a:spcPts val="2799"/>
              </a:lnSpc>
              <a:buNone/>
            </a:pPr>
            <a:r>
              <a:rPr lang="en-US" sz="2000" dirty="0">
                <a:effectLst/>
                <a:latin typeface="Calibri" panose="020F0502020204030204" pitchFamily="34" charset="0"/>
              </a:rPr>
              <a:t>We start by defining a function which takes a OneDrive link as its parameter. The </a:t>
            </a:r>
            <a:r>
              <a:rPr lang="en-US" sz="2000" b="1" dirty="0">
                <a:effectLst/>
                <a:latin typeface="Calibri" panose="020F0502020204030204" pitchFamily="34" charset="0"/>
              </a:rPr>
              <a:t>base64</a:t>
            </a:r>
            <a:r>
              <a:rPr lang="en-US" sz="2000" dirty="0">
                <a:effectLst/>
                <a:latin typeface="Calibri" panose="020F0502020204030204" pitchFamily="34" charset="0"/>
              </a:rPr>
              <a:t> module is used to encode the link into a </a:t>
            </a:r>
            <a:r>
              <a:rPr lang="en-US" sz="2000" b="1" dirty="0">
                <a:effectLst/>
                <a:latin typeface="Calibri" panose="020F0502020204030204" pitchFamily="34" charset="0"/>
              </a:rPr>
              <a:t>data-bytes string</a:t>
            </a:r>
            <a:r>
              <a:rPr lang="en-US" sz="2000" dirty="0">
                <a:effectLst/>
                <a:latin typeface="Calibri" panose="020F0502020204030204" pitchFamily="34" charset="0"/>
              </a:rPr>
              <a:t>. We then construct a URL using that string which is then used to retrieve the file from OneDrive. Once the file is retrieved, we finally use the </a:t>
            </a:r>
            <a:r>
              <a:rPr lang="en-US" sz="2000" b="1" dirty="0" err="1">
                <a:effectLst/>
                <a:latin typeface="Calibri" panose="020F0502020204030204" pitchFamily="34" charset="0"/>
              </a:rPr>
              <a:t>urllib.request</a:t>
            </a:r>
            <a:r>
              <a:rPr lang="en-US" sz="2000" dirty="0">
                <a:effectLst/>
                <a:latin typeface="Calibri" panose="020F0502020204030204" pitchFamily="34" charset="0"/>
              </a:rPr>
              <a:t> module to save the file locally as </a:t>
            </a:r>
            <a:r>
              <a:rPr lang="en-US" sz="2000" b="1" dirty="0">
                <a:effectLst/>
                <a:latin typeface="Calibri" panose="020F0502020204030204" pitchFamily="34" charset="0"/>
              </a:rPr>
              <a:t>temp.jpg</a:t>
            </a:r>
            <a:endParaRPr lang="en-US" sz="2000" b="1" dirty="0"/>
          </a:p>
        </p:txBody>
      </p:sp>
      <p:sp>
        <p:nvSpPr>
          <p:cNvPr id="25" name="Arrow: Right 24">
            <a:extLst>
              <a:ext uri="{FF2B5EF4-FFF2-40B4-BE49-F238E27FC236}">
                <a16:creationId xmlns:a16="http://schemas.microsoft.com/office/drawing/2014/main" id="{A86353CA-02F9-AEE1-0586-3D940AED17AA}"/>
              </a:ext>
            </a:extLst>
          </p:cNvPr>
          <p:cNvSpPr/>
          <p:nvPr/>
        </p:nvSpPr>
        <p:spPr>
          <a:xfrm>
            <a:off x="4476466" y="5749059"/>
            <a:ext cx="1392071" cy="544101"/>
          </a:xfrm>
          <a:prstGeom prst="rightArrow">
            <a:avLst>
              <a:gd name="adj1" fmla="val 50000"/>
              <a:gd name="adj2" fmla="val 5000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5240"/>
            <a:ext cx="14630400" cy="9281160"/>
          </a:xfrm>
          <a:prstGeom prst="rect">
            <a:avLst/>
          </a:prstGeom>
          <a:solidFill>
            <a:srgbClr val="FFFAFA"/>
          </a:solidFill>
          <a:ln/>
        </p:spPr>
        <p:txBody>
          <a:bodyPr/>
          <a:lstStyle/>
          <a:p>
            <a:endParaRPr lang="en-IN" dirty="0"/>
          </a:p>
        </p:txBody>
      </p:sp>
      <p:sp>
        <p:nvSpPr>
          <p:cNvPr id="4" name="Text 1"/>
          <p:cNvSpPr/>
          <p:nvPr/>
        </p:nvSpPr>
        <p:spPr>
          <a:xfrm>
            <a:off x="1097280" y="714554"/>
            <a:ext cx="11807905" cy="1388745"/>
          </a:xfrm>
          <a:prstGeom prst="rect">
            <a:avLst/>
          </a:prstGeom>
          <a:noFill/>
          <a:ln/>
        </p:spPr>
        <p:txBody>
          <a:bodyPr wrap="square" rtlCol="0" anchor="t"/>
          <a:lstStyle/>
          <a:p>
            <a:pPr marL="0" indent="0" algn="ctr">
              <a:lnSpc>
                <a:spcPts val="5468"/>
              </a:lnSpc>
              <a:buNone/>
            </a:pPr>
            <a:r>
              <a:rPr lang="en-US" sz="4500" dirty="0">
                <a:effectLst/>
                <a:latin typeface="Calibri" panose="020F0502020204030204" pitchFamily="34" charset="0"/>
              </a:rPr>
              <a:t>The AI-based Health </a:t>
            </a:r>
            <a:r>
              <a:rPr lang="en-US" sz="4500" dirty="0">
                <a:latin typeface="Calibri" panose="020F0502020204030204" pitchFamily="34" charset="0"/>
              </a:rPr>
              <a:t>A</a:t>
            </a:r>
            <a:r>
              <a:rPr lang="en-US" sz="4500" dirty="0">
                <a:effectLst/>
                <a:latin typeface="Calibri" panose="020F0502020204030204" pitchFamily="34" charset="0"/>
              </a:rPr>
              <a:t>ssistant has 4 Components:</a:t>
            </a:r>
            <a:endParaRPr lang="en-US" sz="4500" dirty="0"/>
          </a:p>
        </p:txBody>
      </p:sp>
      <p:sp>
        <p:nvSpPr>
          <p:cNvPr id="5" name="Text 2"/>
          <p:cNvSpPr/>
          <p:nvPr/>
        </p:nvSpPr>
        <p:spPr>
          <a:xfrm>
            <a:off x="392072" y="1864783"/>
            <a:ext cx="2666286" cy="416481"/>
          </a:xfrm>
          <a:prstGeom prst="rect">
            <a:avLst/>
          </a:prstGeom>
          <a:noFill/>
          <a:ln/>
        </p:spPr>
        <p:txBody>
          <a:bodyPr wrap="none" rtlCol="0" anchor="t"/>
          <a:lstStyle/>
          <a:p>
            <a:pPr marL="0" indent="0">
              <a:lnSpc>
                <a:spcPts val="3281"/>
              </a:lnSpc>
              <a:buNone/>
            </a:pPr>
            <a:r>
              <a:rPr lang="en-US" sz="2624" dirty="0">
                <a:solidFill>
                  <a:srgbClr val="1F1E1E"/>
                </a:solidFill>
                <a:latin typeface="Red Hat Text" pitchFamily="34" charset="0"/>
                <a:ea typeface="Red Hat Text" pitchFamily="34" charset="-122"/>
              </a:rPr>
              <a:t>Component I</a:t>
            </a:r>
            <a:endParaRPr lang="en-US" sz="2624" dirty="0"/>
          </a:p>
        </p:txBody>
      </p:sp>
      <p:sp>
        <p:nvSpPr>
          <p:cNvPr id="6" name="Text 3"/>
          <p:cNvSpPr/>
          <p:nvPr/>
        </p:nvSpPr>
        <p:spPr>
          <a:xfrm>
            <a:off x="383262" y="2565677"/>
            <a:ext cx="2765465" cy="2875003"/>
          </a:xfrm>
          <a:prstGeom prst="rect">
            <a:avLst/>
          </a:prstGeom>
          <a:noFill/>
          <a:ln/>
        </p:spPr>
        <p:txBody>
          <a:bodyPr wrap="square" rtlCol="0" anchor="t"/>
          <a:lstStyle/>
          <a:p>
            <a:pPr marL="0" indent="0">
              <a:lnSpc>
                <a:spcPts val="2799"/>
              </a:lnSpc>
              <a:buNone/>
            </a:pPr>
            <a:r>
              <a:rPr lang="en-US" sz="1850" b="1" dirty="0">
                <a:effectLst/>
                <a:latin typeface="Roboto" panose="02000000000000000000" pitchFamily="2" charset="0"/>
                <a:ea typeface="Roboto" panose="02000000000000000000" pitchFamily="2" charset="0"/>
                <a:cs typeface="Roboto" panose="02000000000000000000" pitchFamily="2" charset="0"/>
              </a:rPr>
              <a:t>A text entry box </a:t>
            </a:r>
            <a:r>
              <a:rPr lang="en-US" sz="1850" dirty="0">
                <a:effectLst/>
                <a:latin typeface="Roboto" panose="02000000000000000000" pitchFamily="2" charset="0"/>
                <a:ea typeface="Roboto" panose="02000000000000000000" pitchFamily="2" charset="0"/>
                <a:cs typeface="Roboto" panose="02000000000000000000" pitchFamily="2" charset="0"/>
              </a:rPr>
              <a:t>at the top which asks the user to enter the issue they are facing</a:t>
            </a:r>
            <a:endParaRPr lang="en-US" sz="1850" dirty="0">
              <a:latin typeface="Roboto" panose="02000000000000000000" pitchFamily="2" charset="0"/>
              <a:ea typeface="Roboto" panose="02000000000000000000" pitchFamily="2" charset="0"/>
              <a:cs typeface="Roboto" panose="02000000000000000000" pitchFamily="2" charset="0"/>
            </a:endParaRPr>
          </a:p>
        </p:txBody>
      </p:sp>
      <p:sp>
        <p:nvSpPr>
          <p:cNvPr id="7" name="Text 4"/>
          <p:cNvSpPr/>
          <p:nvPr/>
        </p:nvSpPr>
        <p:spPr>
          <a:xfrm>
            <a:off x="3763566" y="1864784"/>
            <a:ext cx="2666286" cy="416481"/>
          </a:xfrm>
          <a:prstGeom prst="rect">
            <a:avLst/>
          </a:prstGeom>
          <a:noFill/>
          <a:ln/>
        </p:spPr>
        <p:txBody>
          <a:bodyPr wrap="none" rtlCol="0" anchor="t"/>
          <a:lstStyle/>
          <a:p>
            <a:pPr marL="0" indent="0">
              <a:lnSpc>
                <a:spcPts val="3281"/>
              </a:lnSpc>
              <a:buNone/>
            </a:pPr>
            <a:r>
              <a:rPr lang="en-US" sz="2624" dirty="0">
                <a:solidFill>
                  <a:srgbClr val="1F1E1E"/>
                </a:solidFill>
                <a:latin typeface="Red Hat Text" pitchFamily="34" charset="0"/>
                <a:ea typeface="Red Hat Text" pitchFamily="34" charset="-122"/>
                <a:cs typeface="Red Hat Text" pitchFamily="34" charset="-120"/>
              </a:rPr>
              <a:t>Component II</a:t>
            </a:r>
            <a:endParaRPr lang="en-US" sz="2624" dirty="0"/>
          </a:p>
        </p:txBody>
      </p:sp>
      <p:sp>
        <p:nvSpPr>
          <p:cNvPr id="8" name="Text 5"/>
          <p:cNvSpPr/>
          <p:nvPr/>
        </p:nvSpPr>
        <p:spPr>
          <a:xfrm>
            <a:off x="3713977" y="2565676"/>
            <a:ext cx="7808952" cy="5282924"/>
          </a:xfrm>
          <a:prstGeom prst="rect">
            <a:avLst/>
          </a:prstGeom>
          <a:noFill/>
          <a:ln/>
        </p:spPr>
        <p:txBody>
          <a:bodyPr wrap="square" rtlCol="0" anchor="t"/>
          <a:lstStyle/>
          <a:p>
            <a:pPr marL="285750" indent="-285750">
              <a:lnSpc>
                <a:spcPts val="2799"/>
              </a:lnSpc>
              <a:buFont typeface="Arial" panose="020B0604020202020204" pitchFamily="34" charset="0"/>
              <a:buChar char="•"/>
            </a:pPr>
            <a:r>
              <a:rPr lang="en-US" sz="1850" dirty="0">
                <a:effectLst/>
                <a:latin typeface="Roboto" panose="02000000000000000000" pitchFamily="2" charset="0"/>
                <a:ea typeface="Roboto" panose="02000000000000000000" pitchFamily="2" charset="0"/>
                <a:cs typeface="Roboto" panose="02000000000000000000" pitchFamily="2" charset="0"/>
              </a:rPr>
              <a:t>The "</a:t>
            </a:r>
            <a:r>
              <a:rPr lang="en-US" sz="1850" b="1" dirty="0">
                <a:effectLst/>
                <a:latin typeface="Roboto" panose="02000000000000000000" pitchFamily="2" charset="0"/>
                <a:ea typeface="Roboto" panose="02000000000000000000" pitchFamily="2" charset="0"/>
                <a:cs typeface="Roboto" panose="02000000000000000000" pitchFamily="2" charset="0"/>
              </a:rPr>
              <a:t>Ask Me Anything:) (10 Attempts Per Day Only!)</a:t>
            </a:r>
            <a:r>
              <a:rPr lang="en-US" sz="1850" dirty="0">
                <a:effectLst/>
                <a:latin typeface="Roboto" panose="02000000000000000000" pitchFamily="2" charset="0"/>
                <a:ea typeface="Roboto" panose="02000000000000000000" pitchFamily="2" charset="0"/>
                <a:cs typeface="Roboto" panose="02000000000000000000" pitchFamily="2" charset="0"/>
              </a:rPr>
              <a:t>" button is used to ask OpenAI’s GPT-3.5 Turbo to generate an answer to the user’s query. The AI-based engine accesses an </a:t>
            </a:r>
            <a:r>
              <a:rPr lang="en-US" sz="1850" b="1" dirty="0">
                <a:effectLst/>
                <a:latin typeface="Roboto" panose="02000000000000000000" pitchFamily="2" charset="0"/>
                <a:ea typeface="Roboto" panose="02000000000000000000" pitchFamily="2" charset="0"/>
                <a:cs typeface="Roboto" panose="02000000000000000000" pitchFamily="2" charset="0"/>
              </a:rPr>
              <a:t>OpenAI API</a:t>
            </a:r>
            <a:r>
              <a:rPr lang="en-US" sz="1850" dirty="0">
                <a:effectLst/>
                <a:latin typeface="Roboto" panose="02000000000000000000" pitchFamily="2" charset="0"/>
                <a:ea typeface="Roboto" panose="02000000000000000000" pitchFamily="2" charset="0"/>
                <a:cs typeface="Roboto" panose="02000000000000000000" pitchFamily="2" charset="0"/>
              </a:rPr>
              <a:t> from </a:t>
            </a:r>
            <a:r>
              <a:rPr lang="en-US" sz="1850" b="1" dirty="0" err="1">
                <a:effectLst/>
                <a:latin typeface="Roboto" panose="02000000000000000000" pitchFamily="2" charset="0"/>
                <a:ea typeface="Roboto" panose="02000000000000000000" pitchFamily="2" charset="0"/>
                <a:cs typeface="Roboto" panose="02000000000000000000" pitchFamily="2" charset="0"/>
              </a:rPr>
              <a:t>RapidAPI</a:t>
            </a:r>
            <a:r>
              <a:rPr lang="en-US" sz="1850" dirty="0">
                <a:effectLst/>
                <a:latin typeface="Roboto" panose="02000000000000000000" pitchFamily="2" charset="0"/>
                <a:ea typeface="Roboto" panose="02000000000000000000" pitchFamily="2" charset="0"/>
                <a:cs typeface="Roboto" panose="02000000000000000000" pitchFamily="2" charset="0"/>
              </a:rPr>
              <a:t> which provides natural language processing capabilities to generate responses to the user's input, and has a </a:t>
            </a:r>
            <a:r>
              <a:rPr lang="en-US" sz="1850" b="1" dirty="0">
                <a:effectLst/>
                <a:latin typeface="Roboto" panose="02000000000000000000" pitchFamily="2" charset="0"/>
                <a:ea typeface="Roboto" panose="02000000000000000000" pitchFamily="2" charset="0"/>
                <a:cs typeface="Roboto" panose="02000000000000000000" pitchFamily="2" charset="0"/>
              </a:rPr>
              <a:t>usage rate limit of 10 requests per day</a:t>
            </a:r>
            <a:endParaRPr lang="en-US" sz="1850" dirty="0">
              <a:effectLst/>
              <a:latin typeface="Roboto" panose="02000000000000000000" pitchFamily="2" charset="0"/>
              <a:ea typeface="Roboto" panose="02000000000000000000" pitchFamily="2" charset="0"/>
              <a:cs typeface="Roboto" panose="02000000000000000000" pitchFamily="2" charset="0"/>
            </a:endParaRPr>
          </a:p>
          <a:p>
            <a:pPr marL="285750" indent="-285750">
              <a:lnSpc>
                <a:spcPts val="2799"/>
              </a:lnSpc>
              <a:buFont typeface="Arial" panose="020B0604020202020204" pitchFamily="34" charset="0"/>
              <a:buChar char="•"/>
            </a:pPr>
            <a:r>
              <a:rPr lang="en-US" sz="1850" dirty="0">
                <a:effectLst/>
                <a:latin typeface="Roboto" panose="02000000000000000000" pitchFamily="2" charset="0"/>
                <a:ea typeface="Roboto" panose="02000000000000000000" pitchFamily="2" charset="0"/>
                <a:cs typeface="Roboto" panose="02000000000000000000" pitchFamily="2" charset="0"/>
              </a:rPr>
              <a:t>The output is then displayed on the label and </a:t>
            </a:r>
          </a:p>
          <a:p>
            <a:pPr marL="285750" indent="-285750">
              <a:lnSpc>
                <a:spcPts val="2799"/>
              </a:lnSpc>
              <a:buFont typeface="Arial" panose="020B0604020202020204" pitchFamily="34" charset="0"/>
              <a:buChar char="•"/>
            </a:pPr>
            <a:r>
              <a:rPr lang="en-US" sz="1850" dirty="0">
                <a:latin typeface="Roboto" panose="02000000000000000000" pitchFamily="2" charset="0"/>
                <a:ea typeface="Roboto" panose="02000000000000000000" pitchFamily="2" charset="0"/>
                <a:cs typeface="Roboto" panose="02000000000000000000" pitchFamily="2" charset="0"/>
              </a:rPr>
              <a:t>Is also </a:t>
            </a:r>
            <a:r>
              <a:rPr lang="en-US" sz="1850" dirty="0">
                <a:effectLst/>
                <a:latin typeface="Roboto" panose="02000000000000000000" pitchFamily="2" charset="0"/>
                <a:ea typeface="Roboto" panose="02000000000000000000" pitchFamily="2" charset="0"/>
                <a:cs typeface="Roboto" panose="02000000000000000000" pitchFamily="2" charset="0"/>
              </a:rPr>
              <a:t>played as an audio file using </a:t>
            </a:r>
            <a:r>
              <a:rPr lang="en-US" sz="1850" b="1" dirty="0">
                <a:effectLst/>
                <a:latin typeface="Roboto" panose="02000000000000000000" pitchFamily="2" charset="0"/>
                <a:ea typeface="Roboto" panose="02000000000000000000" pitchFamily="2" charset="0"/>
                <a:cs typeface="Roboto" panose="02000000000000000000" pitchFamily="2" charset="0"/>
              </a:rPr>
              <a:t>Google’s Text-to-Speech engine</a:t>
            </a:r>
            <a:r>
              <a:rPr lang="en-US" sz="1850" dirty="0">
                <a:effectLst/>
                <a:latin typeface="Roboto" panose="02000000000000000000" pitchFamily="2" charset="0"/>
                <a:ea typeface="Roboto" panose="02000000000000000000" pitchFamily="2" charset="0"/>
                <a:cs typeface="Roboto" panose="02000000000000000000" pitchFamily="2" charset="0"/>
              </a:rPr>
              <a:t> </a:t>
            </a:r>
          </a:p>
          <a:p>
            <a:pPr marL="285750" indent="-285750">
              <a:lnSpc>
                <a:spcPts val="2799"/>
              </a:lnSpc>
              <a:buFont typeface="Arial" panose="020B0604020202020204" pitchFamily="34" charset="0"/>
              <a:buChar char="•"/>
            </a:pPr>
            <a:r>
              <a:rPr lang="en-US" sz="1850" dirty="0">
                <a:effectLst/>
                <a:latin typeface="Roboto" panose="02000000000000000000" pitchFamily="2" charset="0"/>
                <a:ea typeface="Roboto" panose="02000000000000000000" pitchFamily="2" charset="0"/>
                <a:cs typeface="Roboto" panose="02000000000000000000" pitchFamily="2" charset="0"/>
              </a:rPr>
              <a:t>The assistant also provides the user with a button "</a:t>
            </a:r>
            <a:r>
              <a:rPr lang="en-US" sz="1850" b="1" dirty="0">
                <a:effectLst/>
                <a:latin typeface="Roboto" panose="02000000000000000000" pitchFamily="2" charset="0"/>
                <a:ea typeface="Roboto" panose="02000000000000000000" pitchFamily="2" charset="0"/>
                <a:cs typeface="Roboto" panose="02000000000000000000" pitchFamily="2" charset="0"/>
              </a:rPr>
              <a:t>Search</a:t>
            </a:r>
            <a:r>
              <a:rPr lang="en-US" sz="1850" dirty="0">
                <a:effectLst/>
                <a:latin typeface="Roboto" panose="02000000000000000000" pitchFamily="2" charset="0"/>
                <a:ea typeface="Roboto" panose="02000000000000000000" pitchFamily="2" charset="0"/>
                <a:cs typeface="Roboto" panose="02000000000000000000" pitchFamily="2" charset="0"/>
              </a:rPr>
              <a:t>" beside the issue entry box which searches 3 websites, namely "</a:t>
            </a:r>
            <a:r>
              <a:rPr lang="en-US" sz="1850" b="1" dirty="0">
                <a:effectLst/>
                <a:latin typeface="Roboto" panose="02000000000000000000" pitchFamily="2" charset="0"/>
                <a:ea typeface="Roboto" panose="02000000000000000000" pitchFamily="2" charset="0"/>
                <a:cs typeface="Roboto" panose="02000000000000000000" pitchFamily="2" charset="0"/>
              </a:rPr>
              <a:t>HelpGuide.org</a:t>
            </a:r>
            <a:r>
              <a:rPr lang="en-US" sz="1850" dirty="0">
                <a:effectLst/>
                <a:latin typeface="Roboto" panose="02000000000000000000" pitchFamily="2" charset="0"/>
                <a:ea typeface="Roboto" panose="02000000000000000000" pitchFamily="2" charset="0"/>
                <a:cs typeface="Roboto" panose="02000000000000000000" pitchFamily="2" charset="0"/>
              </a:rPr>
              <a:t>", "</a:t>
            </a:r>
            <a:r>
              <a:rPr lang="en-US" sz="1850" b="1" dirty="0">
                <a:effectLst/>
                <a:latin typeface="Roboto" panose="02000000000000000000" pitchFamily="2" charset="0"/>
                <a:ea typeface="Roboto" panose="02000000000000000000" pitchFamily="2" charset="0"/>
                <a:cs typeface="Roboto" panose="02000000000000000000" pitchFamily="2" charset="0"/>
              </a:rPr>
              <a:t>NIMH.nih.gov</a:t>
            </a:r>
            <a:r>
              <a:rPr lang="en-US" sz="1850" dirty="0">
                <a:effectLst/>
                <a:latin typeface="Roboto" panose="02000000000000000000" pitchFamily="2" charset="0"/>
                <a:ea typeface="Roboto" panose="02000000000000000000" pitchFamily="2" charset="0"/>
                <a:cs typeface="Roboto" panose="02000000000000000000" pitchFamily="2" charset="0"/>
              </a:rPr>
              <a:t>", and "</a:t>
            </a:r>
            <a:r>
              <a:rPr lang="en-US" sz="1850" b="1" dirty="0">
                <a:effectLst/>
                <a:latin typeface="Roboto" panose="02000000000000000000" pitchFamily="2" charset="0"/>
                <a:ea typeface="Roboto" panose="02000000000000000000" pitchFamily="2" charset="0"/>
                <a:cs typeface="Roboto" panose="02000000000000000000" pitchFamily="2" charset="0"/>
              </a:rPr>
              <a:t>Mind.uk.org</a:t>
            </a:r>
            <a:r>
              <a:rPr lang="en-US" sz="1850" dirty="0">
                <a:effectLst/>
                <a:latin typeface="Roboto" panose="02000000000000000000" pitchFamily="2" charset="0"/>
                <a:ea typeface="Roboto" panose="02000000000000000000" pitchFamily="2" charset="0"/>
                <a:cs typeface="Roboto" panose="02000000000000000000" pitchFamily="2" charset="0"/>
              </a:rPr>
              <a:t>" which provide more information and resources related to the issue that the user has entered</a:t>
            </a:r>
            <a:endParaRPr lang="en-US" sz="1850" dirty="0">
              <a:latin typeface="Roboto" panose="02000000000000000000" pitchFamily="2" charset="0"/>
              <a:ea typeface="Roboto" panose="02000000000000000000" pitchFamily="2" charset="0"/>
              <a:cs typeface="Roboto" panose="02000000000000000000" pitchFamily="2" charset="0"/>
            </a:endParaRPr>
          </a:p>
        </p:txBody>
      </p:sp>
      <p:sp>
        <p:nvSpPr>
          <p:cNvPr id="9" name="Text 6"/>
          <p:cNvSpPr/>
          <p:nvPr/>
        </p:nvSpPr>
        <p:spPr>
          <a:xfrm>
            <a:off x="383262" y="4224099"/>
            <a:ext cx="2666286" cy="416481"/>
          </a:xfrm>
          <a:prstGeom prst="rect">
            <a:avLst/>
          </a:prstGeom>
          <a:noFill/>
          <a:ln/>
        </p:spPr>
        <p:txBody>
          <a:bodyPr wrap="none" rtlCol="0" anchor="t"/>
          <a:lstStyle/>
          <a:p>
            <a:pPr marL="0" indent="0">
              <a:lnSpc>
                <a:spcPts val="3281"/>
              </a:lnSpc>
              <a:buNone/>
            </a:pPr>
            <a:r>
              <a:rPr lang="en-US" sz="2624" dirty="0">
                <a:solidFill>
                  <a:srgbClr val="1F1E1E"/>
                </a:solidFill>
                <a:latin typeface="Red Hat Text" pitchFamily="34" charset="0"/>
                <a:ea typeface="Red Hat Text" pitchFamily="34" charset="-122"/>
                <a:cs typeface="Red Hat Text" pitchFamily="34" charset="-120"/>
              </a:rPr>
              <a:t>Component IV</a:t>
            </a:r>
            <a:endParaRPr lang="en-US" sz="2624" dirty="0"/>
          </a:p>
        </p:txBody>
      </p:sp>
      <p:sp>
        <p:nvSpPr>
          <p:cNvPr id="10" name="Text 7"/>
          <p:cNvSpPr/>
          <p:nvPr/>
        </p:nvSpPr>
        <p:spPr>
          <a:xfrm>
            <a:off x="392072" y="4739461"/>
            <a:ext cx="3150902" cy="3774552"/>
          </a:xfrm>
          <a:prstGeom prst="rect">
            <a:avLst/>
          </a:prstGeom>
          <a:noFill/>
          <a:ln/>
        </p:spPr>
        <p:txBody>
          <a:bodyPr wrap="square" rtlCol="0" anchor="t"/>
          <a:lstStyle/>
          <a:p>
            <a:pPr marL="0" indent="0">
              <a:lnSpc>
                <a:spcPts val="2799"/>
              </a:lnSpc>
              <a:buNone/>
            </a:pPr>
            <a:r>
              <a:rPr lang="en-US" sz="1850" dirty="0">
                <a:effectLst/>
                <a:latin typeface="Roboto" panose="02000000000000000000" pitchFamily="2" charset="0"/>
                <a:ea typeface="Roboto" panose="02000000000000000000" pitchFamily="2" charset="0"/>
                <a:cs typeface="Roboto" panose="02000000000000000000" pitchFamily="2" charset="0"/>
              </a:rPr>
              <a:t>It also has a </a:t>
            </a:r>
            <a:r>
              <a:rPr lang="en-US" sz="1850" b="1" dirty="0">
                <a:effectLst/>
                <a:latin typeface="Roboto" panose="02000000000000000000" pitchFamily="2" charset="0"/>
                <a:ea typeface="Roboto" panose="02000000000000000000" pitchFamily="2" charset="0"/>
                <a:cs typeface="Roboto" panose="02000000000000000000" pitchFamily="2" charset="0"/>
              </a:rPr>
              <a:t>search button for mental health professionals.</a:t>
            </a:r>
            <a:r>
              <a:rPr lang="en-US" sz="1850" dirty="0">
                <a:effectLst/>
                <a:latin typeface="Roboto" panose="02000000000000000000" pitchFamily="2" charset="0"/>
                <a:ea typeface="Roboto" panose="02000000000000000000" pitchFamily="2" charset="0"/>
                <a:cs typeface="Roboto" panose="02000000000000000000" pitchFamily="2" charset="0"/>
              </a:rPr>
              <a:t> When clicked, it triggers the ‘</a:t>
            </a:r>
            <a:r>
              <a:rPr lang="en-US" sz="1850" b="1" dirty="0">
                <a:effectLst/>
                <a:latin typeface="Roboto" panose="02000000000000000000" pitchFamily="2" charset="0"/>
                <a:ea typeface="Roboto" panose="02000000000000000000" pitchFamily="2" charset="0"/>
                <a:cs typeface="Roboto" panose="02000000000000000000" pitchFamily="2" charset="0"/>
              </a:rPr>
              <a:t>Professionals</a:t>
            </a:r>
            <a:r>
              <a:rPr lang="en-US" sz="1850" dirty="0">
                <a:effectLst/>
                <a:latin typeface="Roboto" panose="02000000000000000000" pitchFamily="2" charset="0"/>
                <a:ea typeface="Roboto" panose="02000000000000000000" pitchFamily="2" charset="0"/>
                <a:cs typeface="Roboto" panose="02000000000000000000" pitchFamily="2" charset="0"/>
              </a:rPr>
              <a:t>’ function which opens up a webpage named "</a:t>
            </a:r>
            <a:r>
              <a:rPr lang="en-US" sz="1850" b="1" dirty="0">
                <a:effectLst/>
                <a:latin typeface="Roboto" panose="02000000000000000000" pitchFamily="2" charset="0"/>
                <a:ea typeface="Roboto" panose="02000000000000000000" pitchFamily="2" charset="0"/>
                <a:cs typeface="Roboto" panose="02000000000000000000" pitchFamily="2" charset="0"/>
              </a:rPr>
              <a:t>goodtherapy.org</a:t>
            </a:r>
            <a:r>
              <a:rPr lang="en-US" sz="1850" dirty="0">
                <a:effectLst/>
                <a:latin typeface="Roboto" panose="02000000000000000000" pitchFamily="2" charset="0"/>
                <a:ea typeface="Roboto" panose="02000000000000000000" pitchFamily="2" charset="0"/>
                <a:cs typeface="Roboto" panose="02000000000000000000" pitchFamily="2" charset="0"/>
              </a:rPr>
              <a:t>" with a list of professionals across different countries who </a:t>
            </a:r>
            <a:r>
              <a:rPr lang="en-US" sz="1850" dirty="0" err="1">
                <a:effectLst/>
                <a:latin typeface="Roboto" panose="02000000000000000000" pitchFamily="2" charset="0"/>
                <a:ea typeface="Roboto" panose="02000000000000000000" pitchFamily="2" charset="0"/>
                <a:cs typeface="Roboto" panose="02000000000000000000" pitchFamily="2" charset="0"/>
              </a:rPr>
              <a:t>specialise</a:t>
            </a:r>
            <a:r>
              <a:rPr lang="en-US" sz="1850" dirty="0">
                <a:effectLst/>
                <a:latin typeface="Roboto" panose="02000000000000000000" pitchFamily="2" charset="0"/>
                <a:ea typeface="Roboto" panose="02000000000000000000" pitchFamily="2" charset="0"/>
                <a:cs typeface="Roboto" panose="02000000000000000000" pitchFamily="2" charset="0"/>
              </a:rPr>
              <a:t> in therapy</a:t>
            </a:r>
            <a:endParaRPr lang="en-US" sz="1850" dirty="0">
              <a:latin typeface="Roboto" panose="02000000000000000000" pitchFamily="2" charset="0"/>
              <a:ea typeface="Roboto" panose="02000000000000000000" pitchFamily="2" charset="0"/>
              <a:cs typeface="Roboto" panose="02000000000000000000" pitchFamily="2" charset="0"/>
            </a:endParaRPr>
          </a:p>
        </p:txBody>
      </p:sp>
      <p:sp>
        <p:nvSpPr>
          <p:cNvPr id="12" name="Text 6">
            <a:extLst>
              <a:ext uri="{FF2B5EF4-FFF2-40B4-BE49-F238E27FC236}">
                <a16:creationId xmlns:a16="http://schemas.microsoft.com/office/drawing/2014/main" id="{6E29A7CC-F453-39B7-3E41-DF4BAF728A9C}"/>
              </a:ext>
            </a:extLst>
          </p:cNvPr>
          <p:cNvSpPr/>
          <p:nvPr/>
        </p:nvSpPr>
        <p:spPr>
          <a:xfrm>
            <a:off x="11693932" y="1903374"/>
            <a:ext cx="2666286" cy="416481"/>
          </a:xfrm>
          <a:prstGeom prst="rect">
            <a:avLst/>
          </a:prstGeom>
          <a:noFill/>
          <a:ln/>
        </p:spPr>
        <p:txBody>
          <a:bodyPr wrap="none" rtlCol="0" anchor="t"/>
          <a:lstStyle/>
          <a:p>
            <a:pPr marL="0" indent="0">
              <a:lnSpc>
                <a:spcPts val="3281"/>
              </a:lnSpc>
              <a:buNone/>
            </a:pPr>
            <a:r>
              <a:rPr lang="en-US" sz="2624" dirty="0">
                <a:solidFill>
                  <a:srgbClr val="1F1E1E"/>
                </a:solidFill>
                <a:latin typeface="Red Hat Text" pitchFamily="34" charset="0"/>
                <a:ea typeface="Red Hat Text" pitchFamily="34" charset="-122"/>
                <a:cs typeface="Red Hat Text" pitchFamily="34" charset="-120"/>
              </a:rPr>
              <a:t>Component III</a:t>
            </a:r>
            <a:endParaRPr lang="en-US" sz="2624" dirty="0"/>
          </a:p>
        </p:txBody>
      </p:sp>
      <p:sp>
        <p:nvSpPr>
          <p:cNvPr id="13" name="Text 7">
            <a:extLst>
              <a:ext uri="{FF2B5EF4-FFF2-40B4-BE49-F238E27FC236}">
                <a16:creationId xmlns:a16="http://schemas.microsoft.com/office/drawing/2014/main" id="{9D1EA259-B550-7692-B1C7-03FE34413E75}"/>
              </a:ext>
            </a:extLst>
          </p:cNvPr>
          <p:cNvSpPr/>
          <p:nvPr/>
        </p:nvSpPr>
        <p:spPr>
          <a:xfrm>
            <a:off x="11693932" y="2561925"/>
            <a:ext cx="2765465" cy="4235115"/>
          </a:xfrm>
          <a:prstGeom prst="rect">
            <a:avLst/>
          </a:prstGeom>
          <a:noFill/>
          <a:ln/>
        </p:spPr>
        <p:txBody>
          <a:bodyPr wrap="square" rtlCol="0" anchor="t"/>
          <a:lstStyle/>
          <a:p>
            <a:pPr marL="0" indent="0">
              <a:lnSpc>
                <a:spcPts val="2799"/>
              </a:lnSpc>
              <a:buNone/>
            </a:pPr>
            <a:r>
              <a:rPr lang="en-US" sz="1850" dirty="0">
                <a:effectLst/>
                <a:latin typeface="Roboto" panose="02000000000000000000" pitchFamily="2" charset="0"/>
                <a:ea typeface="Roboto" panose="02000000000000000000" pitchFamily="2" charset="0"/>
                <a:cs typeface="Roboto" panose="02000000000000000000" pitchFamily="2" charset="0"/>
              </a:rPr>
              <a:t>A text entry box [at the lower left corner] asks for the user's location or any location of their choice, and the search button beside it uses the </a:t>
            </a:r>
            <a:r>
              <a:rPr lang="en-US" sz="1850" b="1" dirty="0">
                <a:effectLst/>
                <a:latin typeface="Roboto" panose="02000000000000000000" pitchFamily="2" charset="0"/>
                <a:ea typeface="Roboto" panose="02000000000000000000" pitchFamily="2" charset="0"/>
                <a:cs typeface="Roboto" panose="02000000000000000000" pitchFamily="2" charset="0"/>
              </a:rPr>
              <a:t>Google Maps API</a:t>
            </a:r>
            <a:r>
              <a:rPr lang="en-US" sz="1850" dirty="0">
                <a:effectLst/>
                <a:latin typeface="Roboto" panose="02000000000000000000" pitchFamily="2" charset="0"/>
                <a:ea typeface="Roboto" panose="02000000000000000000" pitchFamily="2" charset="0"/>
                <a:cs typeface="Roboto" panose="02000000000000000000" pitchFamily="2" charset="0"/>
              </a:rPr>
              <a:t> to search for </a:t>
            </a:r>
            <a:r>
              <a:rPr lang="en-US" sz="1850" b="1" dirty="0">
                <a:effectLst/>
                <a:latin typeface="Roboto" panose="02000000000000000000" pitchFamily="2" charset="0"/>
                <a:ea typeface="Roboto" panose="02000000000000000000" pitchFamily="2" charset="0"/>
                <a:cs typeface="Roboto" panose="02000000000000000000" pitchFamily="2" charset="0"/>
              </a:rPr>
              <a:t>Mental Hospitals</a:t>
            </a:r>
            <a:r>
              <a:rPr lang="en-US" sz="1850" dirty="0">
                <a:effectLst/>
                <a:latin typeface="Roboto" panose="02000000000000000000" pitchFamily="2" charset="0"/>
                <a:ea typeface="Roboto" panose="02000000000000000000" pitchFamily="2" charset="0"/>
                <a:cs typeface="Roboto" panose="02000000000000000000" pitchFamily="2" charset="0"/>
              </a:rPr>
              <a:t> and </a:t>
            </a:r>
            <a:r>
              <a:rPr lang="en-US" sz="1850" b="1" dirty="0">
                <a:effectLst/>
                <a:latin typeface="Roboto" panose="02000000000000000000" pitchFamily="2" charset="0"/>
                <a:ea typeface="Roboto" panose="02000000000000000000" pitchFamily="2" charset="0"/>
                <a:cs typeface="Roboto" panose="02000000000000000000" pitchFamily="2" charset="0"/>
              </a:rPr>
              <a:t>Trauma Care </a:t>
            </a:r>
            <a:r>
              <a:rPr lang="en-US" sz="1850" b="1" dirty="0" err="1">
                <a:effectLst/>
                <a:latin typeface="Roboto" panose="02000000000000000000" pitchFamily="2" charset="0"/>
                <a:ea typeface="Roboto" panose="02000000000000000000" pitchFamily="2" charset="0"/>
                <a:cs typeface="Roboto" panose="02000000000000000000" pitchFamily="2" charset="0"/>
              </a:rPr>
              <a:t>Centres</a:t>
            </a:r>
            <a:r>
              <a:rPr lang="en-US" sz="1850" dirty="0">
                <a:effectLst/>
                <a:latin typeface="Roboto" panose="02000000000000000000" pitchFamily="2" charset="0"/>
                <a:ea typeface="Roboto" panose="02000000000000000000" pitchFamily="2" charset="0"/>
                <a:cs typeface="Roboto" panose="02000000000000000000" pitchFamily="2" charset="0"/>
              </a:rPr>
              <a:t> in and around the location</a:t>
            </a:r>
            <a:endParaRPr lang="en-US" sz="1850" dirty="0">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AAB625CB-03B8-24C8-2B05-46D41CB02D69}"/>
              </a:ext>
            </a:extLst>
          </p:cNvPr>
          <p:cNvSpPr txBox="1"/>
          <p:nvPr/>
        </p:nvSpPr>
        <p:spPr>
          <a:xfrm>
            <a:off x="4282440" y="7726680"/>
            <a:ext cx="9738360" cy="677108"/>
          </a:xfrm>
          <a:prstGeom prst="rect">
            <a:avLst/>
          </a:prstGeom>
          <a:noFill/>
        </p:spPr>
        <p:txBody>
          <a:bodyPr wrap="square" rtlCol="0">
            <a:spAutoFit/>
          </a:bodyPr>
          <a:lstStyle/>
          <a:p>
            <a:r>
              <a:rPr lang="en-US" sz="1900" dirty="0">
                <a:effectLst/>
                <a:latin typeface="Calibri" panose="020F0502020204030204" pitchFamily="34" charset="0"/>
              </a:rPr>
              <a:t>All the website search results are displayed in separate windows using the </a:t>
            </a:r>
            <a:r>
              <a:rPr lang="en-US" sz="1900" b="1" dirty="0" err="1">
                <a:effectLst/>
                <a:latin typeface="Calibri" panose="020F0502020204030204" pitchFamily="34" charset="0"/>
              </a:rPr>
              <a:t>webview</a:t>
            </a:r>
            <a:r>
              <a:rPr lang="en-US" sz="1900" dirty="0">
                <a:effectLst/>
                <a:latin typeface="Calibri" panose="020F0502020204030204" pitchFamily="34" charset="0"/>
              </a:rPr>
              <a:t> module for the user to browse through and choose the best option for their needs.</a:t>
            </a:r>
            <a:endParaRPr lang="en-IN"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188720"/>
            <a:ext cx="16520160" cy="10607040"/>
          </a:xfrm>
          <a:prstGeom prst="rect">
            <a:avLst/>
          </a:prstGeom>
          <a:solidFill>
            <a:srgbClr val="FFFAFA"/>
          </a:solidFill>
          <a:ln/>
        </p:spPr>
      </p:sp>
      <p:sp>
        <p:nvSpPr>
          <p:cNvPr id="4" name="Text 1"/>
          <p:cNvSpPr/>
          <p:nvPr/>
        </p:nvSpPr>
        <p:spPr>
          <a:xfrm>
            <a:off x="879395" y="-932095"/>
            <a:ext cx="15031165" cy="675470"/>
          </a:xfrm>
          <a:prstGeom prst="rect">
            <a:avLst/>
          </a:prstGeom>
          <a:noFill/>
          <a:ln/>
        </p:spPr>
        <p:txBody>
          <a:bodyPr wrap="square" rtlCol="0" anchor="t"/>
          <a:lstStyle/>
          <a:p>
            <a:pPr marL="0" indent="0" algn="ctr">
              <a:lnSpc>
                <a:spcPts val="5468"/>
              </a:lnSpc>
              <a:buNone/>
            </a:pPr>
            <a:r>
              <a:rPr lang="en-US" sz="4000" dirty="0">
                <a:solidFill>
                  <a:srgbClr val="1F1E1E"/>
                </a:solidFill>
                <a:latin typeface="Red Hat Text" pitchFamily="34" charset="0"/>
                <a:ea typeface="Red Hat Text" pitchFamily="34" charset="-122"/>
              </a:rPr>
              <a:t>Some Significant Drawbacks of Our App and Areas of Development</a:t>
            </a:r>
            <a:endParaRPr lang="en-US" sz="4000" dirty="0"/>
          </a:p>
        </p:txBody>
      </p:sp>
      <p:sp>
        <p:nvSpPr>
          <p:cNvPr id="6" name="Text 3"/>
          <p:cNvSpPr/>
          <p:nvPr/>
        </p:nvSpPr>
        <p:spPr>
          <a:xfrm>
            <a:off x="658416" y="1979950"/>
            <a:ext cx="13286184" cy="5731489"/>
          </a:xfrm>
          <a:prstGeom prst="rect">
            <a:avLst/>
          </a:prstGeom>
          <a:noFill/>
          <a:ln/>
        </p:spPr>
        <p:txBody>
          <a:bodyPr wrap="square" rtlCol="0" anchor="t"/>
          <a:lstStyle/>
          <a:p>
            <a:pPr marL="0" indent="0">
              <a:lnSpc>
                <a:spcPts val="2799"/>
              </a:lnSpc>
              <a:buNone/>
            </a:pPr>
            <a:endParaRPr lang="en-US" sz="1750" dirty="0"/>
          </a:p>
        </p:txBody>
      </p:sp>
      <p:sp>
        <p:nvSpPr>
          <p:cNvPr id="11" name="TextBox 10">
            <a:extLst>
              <a:ext uri="{FF2B5EF4-FFF2-40B4-BE49-F238E27FC236}">
                <a16:creationId xmlns:a16="http://schemas.microsoft.com/office/drawing/2014/main" id="{AD013DAC-5FB6-8292-0FCC-1A953837537C}"/>
              </a:ext>
            </a:extLst>
          </p:cNvPr>
          <p:cNvSpPr txBox="1"/>
          <p:nvPr/>
        </p:nvSpPr>
        <p:spPr>
          <a:xfrm>
            <a:off x="1417320" y="518161"/>
            <a:ext cx="14630400" cy="6863417"/>
          </a:xfrm>
          <a:prstGeom prst="rect">
            <a:avLst/>
          </a:prstGeom>
          <a:noFill/>
        </p:spPr>
        <p:txBody>
          <a:bodyPr wrap="square" rtlCol="0">
            <a:spAutoFit/>
          </a:bodyPr>
          <a:lstStyle/>
          <a:p>
            <a:pPr marL="342900" indent="-342900" algn="l">
              <a:buFont typeface="Arial" panose="020B0604020202020204" pitchFamily="34" charset="0"/>
              <a:buChar char="•"/>
            </a:pPr>
            <a:r>
              <a:rPr lang="en-US" sz="2000" b="1" i="0" dirty="0">
                <a:effectLst/>
                <a:latin typeface="Roboto" panose="02000000000000000000" pitchFamily="2" charset="0"/>
                <a:ea typeface="Roboto" panose="02000000000000000000" pitchFamily="2" charset="0"/>
                <a:cs typeface="Roboto" panose="02000000000000000000" pitchFamily="2" charset="0"/>
              </a:rPr>
              <a:t>Limited Accuracy</a:t>
            </a:r>
            <a:r>
              <a:rPr lang="en-US" sz="2000" b="0" i="0" dirty="0">
                <a:effectLst/>
                <a:latin typeface="Roboto" panose="02000000000000000000" pitchFamily="2" charset="0"/>
                <a:ea typeface="Roboto" panose="02000000000000000000" pitchFamily="2" charset="0"/>
                <a:cs typeface="Roboto" panose="02000000000000000000" pitchFamily="2" charset="0"/>
              </a:rPr>
              <a:t>: The app relies on AI and natural language processing, which may not always produce accurate or appropriate responses…The answers provided by the AI may be generic and not tailored to the individual's specific needs</a:t>
            </a:r>
          </a:p>
          <a:p>
            <a:pPr marL="342900" indent="-342900" algn="l">
              <a:buFont typeface="Arial" panose="020B0604020202020204" pitchFamily="34" charset="0"/>
              <a:buChar char="•"/>
            </a:pPr>
            <a:endParaRPr lang="en-US" sz="2000" b="0" i="0" dirty="0">
              <a:effectLst/>
              <a:latin typeface="Roboto" panose="02000000000000000000" pitchFamily="2" charset="0"/>
              <a:ea typeface="Roboto" panose="02000000000000000000" pitchFamily="2" charset="0"/>
              <a:cs typeface="Roboto" panose="02000000000000000000" pitchFamily="2" charset="0"/>
            </a:endParaRPr>
          </a:p>
          <a:p>
            <a:pPr marL="342900" indent="-342900" algn="l">
              <a:buFont typeface="Arial" panose="020B0604020202020204" pitchFamily="34" charset="0"/>
              <a:buChar char="•"/>
            </a:pPr>
            <a:r>
              <a:rPr lang="en-US" sz="2000" b="1" i="0" dirty="0">
                <a:effectLst/>
                <a:latin typeface="Roboto" panose="02000000000000000000" pitchFamily="2" charset="0"/>
                <a:ea typeface="Roboto" panose="02000000000000000000" pitchFamily="2" charset="0"/>
                <a:cs typeface="Roboto" panose="02000000000000000000" pitchFamily="2" charset="0"/>
              </a:rPr>
              <a:t>Lack of Human Interaction</a:t>
            </a:r>
            <a:r>
              <a:rPr lang="en-US" sz="2000" b="0" i="0" dirty="0">
                <a:effectLst/>
                <a:latin typeface="Roboto" panose="02000000000000000000" pitchFamily="2" charset="0"/>
                <a:ea typeface="Roboto" panose="02000000000000000000" pitchFamily="2" charset="0"/>
                <a:cs typeface="Roboto" panose="02000000000000000000" pitchFamily="2" charset="0"/>
              </a:rPr>
              <a:t>: The app cannot replace the benefits of human interaction, empathy, and understanding that mental health professionals can provide. In some cases, users may need </a:t>
            </a:r>
            <a:r>
              <a:rPr lang="en-US" sz="2000" b="0" i="0" dirty="0" err="1">
                <a:effectLst/>
                <a:latin typeface="Roboto" panose="02000000000000000000" pitchFamily="2" charset="0"/>
                <a:ea typeface="Roboto" panose="02000000000000000000" pitchFamily="2" charset="0"/>
                <a:cs typeface="Roboto" panose="02000000000000000000" pitchFamily="2" charset="0"/>
              </a:rPr>
              <a:t>personalised</a:t>
            </a:r>
            <a:r>
              <a:rPr lang="en-US" sz="2000" b="0" i="0" dirty="0">
                <a:effectLst/>
                <a:latin typeface="Roboto" panose="02000000000000000000" pitchFamily="2" charset="0"/>
                <a:ea typeface="Roboto" panose="02000000000000000000" pitchFamily="2" charset="0"/>
                <a:cs typeface="Roboto" panose="02000000000000000000" pitchFamily="2" charset="0"/>
              </a:rPr>
              <a:t> support that an AI cannot offer…The area of development in this case may be providing consultancy services by doctors through the app</a:t>
            </a:r>
          </a:p>
          <a:p>
            <a:pPr algn="l"/>
            <a:endParaRPr lang="en-US" sz="2000" b="0" i="0" dirty="0">
              <a:effectLst/>
              <a:latin typeface="Roboto" panose="02000000000000000000" pitchFamily="2" charset="0"/>
              <a:ea typeface="Roboto" panose="02000000000000000000" pitchFamily="2" charset="0"/>
              <a:cs typeface="Roboto" panose="02000000000000000000" pitchFamily="2" charset="0"/>
            </a:endParaRPr>
          </a:p>
          <a:p>
            <a:pPr marL="342900" indent="-342900" algn="l">
              <a:buFont typeface="Arial" panose="020B0604020202020204" pitchFamily="34" charset="0"/>
              <a:buChar char="•"/>
            </a:pPr>
            <a:r>
              <a:rPr lang="en-US" sz="2000" b="1" i="0" dirty="0">
                <a:effectLst/>
                <a:latin typeface="Roboto" panose="02000000000000000000" pitchFamily="2" charset="0"/>
                <a:ea typeface="Roboto" panose="02000000000000000000" pitchFamily="2" charset="0"/>
                <a:cs typeface="Roboto" panose="02000000000000000000" pitchFamily="2" charset="0"/>
              </a:rPr>
              <a:t>Reliability on External APIs</a:t>
            </a:r>
            <a:r>
              <a:rPr lang="en-US" sz="2000" b="0" i="0" dirty="0">
                <a:effectLst/>
                <a:latin typeface="Roboto" panose="02000000000000000000" pitchFamily="2" charset="0"/>
                <a:ea typeface="Roboto" panose="02000000000000000000" pitchFamily="2" charset="0"/>
                <a:cs typeface="Roboto" panose="02000000000000000000" pitchFamily="2" charset="0"/>
              </a:rPr>
              <a:t>: The app relies on external APIs like OpenAI and Google's TTS engine. Since it is free, it does have a very limited usage rate(the GPT part)…If these APIs experience downtime or changes in their terms of service, it could affect the functionality of the app</a:t>
            </a:r>
          </a:p>
          <a:p>
            <a:pPr marL="342900" indent="-342900" algn="l">
              <a:buFont typeface="Arial" panose="020B0604020202020204" pitchFamily="34" charset="0"/>
              <a:buChar char="•"/>
            </a:pPr>
            <a:endParaRPr lang="en-US" sz="2000" b="0" i="0" dirty="0">
              <a:effectLst/>
              <a:latin typeface="Roboto" panose="02000000000000000000" pitchFamily="2" charset="0"/>
              <a:ea typeface="Roboto" panose="02000000000000000000" pitchFamily="2" charset="0"/>
              <a:cs typeface="Roboto" panose="02000000000000000000" pitchFamily="2" charset="0"/>
            </a:endParaRPr>
          </a:p>
          <a:p>
            <a:pPr marL="342900" indent="-342900" algn="l">
              <a:buFont typeface="Arial" panose="020B0604020202020204" pitchFamily="34" charset="0"/>
              <a:buChar char="•"/>
            </a:pPr>
            <a:r>
              <a:rPr lang="en-US" sz="2000" b="1" i="0" dirty="0">
                <a:effectLst/>
                <a:latin typeface="Roboto" panose="02000000000000000000" pitchFamily="2" charset="0"/>
                <a:ea typeface="Roboto" panose="02000000000000000000" pitchFamily="2" charset="0"/>
                <a:cs typeface="Roboto" panose="02000000000000000000" pitchFamily="2" charset="0"/>
              </a:rPr>
              <a:t>Language Limitations</a:t>
            </a:r>
            <a:r>
              <a:rPr lang="en-US" sz="2000" b="0" i="0" dirty="0">
                <a:effectLst/>
                <a:latin typeface="Roboto" panose="02000000000000000000" pitchFamily="2" charset="0"/>
                <a:ea typeface="Roboto" panose="02000000000000000000" pitchFamily="2" charset="0"/>
                <a:cs typeface="Roboto" panose="02000000000000000000" pitchFamily="2" charset="0"/>
              </a:rPr>
              <a:t>: The app's effectiveness may be limited for users who don't speak or understand the language used by the AI. It may not be available in all languages, making it less accessible to some individuals</a:t>
            </a:r>
          </a:p>
          <a:p>
            <a:pPr marL="342900" indent="-342900" algn="l">
              <a:buFont typeface="Arial" panose="020B0604020202020204" pitchFamily="34" charset="0"/>
              <a:buChar char="•"/>
            </a:pPr>
            <a:endParaRPr lang="en-US" sz="2000" b="0" i="0" dirty="0">
              <a:effectLst/>
              <a:latin typeface="Roboto" panose="02000000000000000000" pitchFamily="2" charset="0"/>
              <a:ea typeface="Roboto" panose="02000000000000000000" pitchFamily="2" charset="0"/>
              <a:cs typeface="Roboto" panose="02000000000000000000" pitchFamily="2" charset="0"/>
            </a:endParaRPr>
          </a:p>
          <a:p>
            <a:pPr marL="342900" indent="-342900" algn="l">
              <a:buFont typeface="Arial" panose="020B0604020202020204" pitchFamily="34" charset="0"/>
              <a:buChar char="•"/>
            </a:pPr>
            <a:r>
              <a:rPr lang="en-US" sz="2000" b="1" i="0" dirty="0">
                <a:effectLst/>
                <a:latin typeface="Roboto" panose="02000000000000000000" pitchFamily="2" charset="0"/>
                <a:ea typeface="Roboto" panose="02000000000000000000" pitchFamily="2" charset="0"/>
                <a:cs typeface="Roboto" panose="02000000000000000000" pitchFamily="2" charset="0"/>
              </a:rPr>
              <a:t>Dependency on the Internet</a:t>
            </a:r>
            <a:r>
              <a:rPr lang="en-US" sz="2000" b="0" i="0" dirty="0">
                <a:effectLst/>
                <a:latin typeface="Roboto" panose="02000000000000000000" pitchFamily="2" charset="0"/>
                <a:ea typeface="Roboto" panose="02000000000000000000" pitchFamily="2" charset="0"/>
                <a:cs typeface="Roboto" panose="02000000000000000000" pitchFamily="2" charset="0"/>
              </a:rPr>
              <a:t>: The app requires an internet connection to access the AI engine and external resources, which could be an issue for users in areas with poor internet connectivity</a:t>
            </a:r>
          </a:p>
          <a:p>
            <a:pPr algn="l"/>
            <a:endParaRPr lang="en-US" sz="2000" b="0" i="0" dirty="0">
              <a:effectLst/>
              <a:latin typeface="Roboto" panose="02000000000000000000" pitchFamily="2" charset="0"/>
              <a:ea typeface="Roboto" panose="02000000000000000000" pitchFamily="2" charset="0"/>
              <a:cs typeface="Roboto" panose="02000000000000000000" pitchFamily="2" charset="0"/>
            </a:endParaRPr>
          </a:p>
          <a:p>
            <a:pPr marL="342900" indent="-342900" algn="l">
              <a:buFont typeface="Arial" panose="020B0604020202020204" pitchFamily="34" charset="0"/>
              <a:buChar char="•"/>
            </a:pPr>
            <a:r>
              <a:rPr lang="en-US" sz="2000" b="1" i="0" dirty="0">
                <a:effectLst/>
                <a:latin typeface="Roboto" panose="02000000000000000000" pitchFamily="2" charset="0"/>
                <a:ea typeface="Roboto" panose="02000000000000000000" pitchFamily="2" charset="0"/>
                <a:cs typeface="Roboto" panose="02000000000000000000" pitchFamily="2" charset="0"/>
              </a:rPr>
              <a:t>Ethical Concerns</a:t>
            </a:r>
            <a:r>
              <a:rPr lang="en-US" sz="2000" b="0" i="0" dirty="0">
                <a:effectLst/>
                <a:latin typeface="Roboto" panose="02000000000000000000" pitchFamily="2" charset="0"/>
                <a:ea typeface="Roboto" panose="02000000000000000000" pitchFamily="2" charset="0"/>
                <a:cs typeface="Roboto" panose="02000000000000000000" pitchFamily="2" charset="0"/>
              </a:rPr>
              <a:t>: The use of AI in mental health care raises ethical questions, such as ensuring the AI's responses are ethical, unbiased, and sensitive to users' needs</a:t>
            </a:r>
          </a:p>
          <a:p>
            <a:pPr marL="342900" indent="-342900" algn="l">
              <a:buFont typeface="Arial" panose="020B0604020202020204" pitchFamily="34" charset="0"/>
              <a:buChar char="•"/>
            </a:pPr>
            <a:endParaRPr lang="en-US" sz="2000" b="0" i="0" dirty="0">
              <a:effectLst/>
              <a:latin typeface="Roboto" panose="02000000000000000000" pitchFamily="2" charset="0"/>
              <a:ea typeface="Roboto" panose="02000000000000000000" pitchFamily="2" charset="0"/>
              <a:cs typeface="Roboto" panose="02000000000000000000" pitchFamily="2" charset="0"/>
            </a:endParaRPr>
          </a:p>
          <a:p>
            <a:pPr marL="342900" indent="-342900" algn="l">
              <a:buFont typeface="Arial" panose="020B0604020202020204" pitchFamily="34" charset="0"/>
              <a:buChar char="•"/>
            </a:pPr>
            <a:r>
              <a:rPr lang="en-US" sz="2000" b="1" i="0" dirty="0">
                <a:effectLst/>
                <a:latin typeface="Roboto" panose="02000000000000000000" pitchFamily="2" charset="0"/>
                <a:ea typeface="Roboto" panose="02000000000000000000" pitchFamily="2" charset="0"/>
                <a:cs typeface="Roboto" panose="02000000000000000000" pitchFamily="2" charset="0"/>
              </a:rPr>
              <a:t>Misinterpretation of User Intent</a:t>
            </a:r>
            <a:r>
              <a:rPr lang="en-US" sz="2000" b="0" i="0" dirty="0">
                <a:effectLst/>
                <a:latin typeface="Roboto" panose="02000000000000000000" pitchFamily="2" charset="0"/>
                <a:ea typeface="Roboto" panose="02000000000000000000" pitchFamily="2" charset="0"/>
                <a:cs typeface="Roboto" panose="02000000000000000000" pitchFamily="2" charset="0"/>
              </a:rPr>
              <a:t>: The AI may misinterpret the user's query, leading to inappropriate or irrelevant responses, potentially causing confusion or distress</a:t>
            </a:r>
          </a:p>
        </p:txBody>
      </p:sp>
    </p:spTree>
    <p:extLst>
      <p:ext uri="{BB962C8B-B14F-4D97-AF65-F5344CB8AC3E}">
        <p14:creationId xmlns:p14="http://schemas.microsoft.com/office/powerpoint/2010/main" val="643124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sp>
        <p:nvSpPr>
          <p:cNvPr id="4" name="Text 1"/>
          <p:cNvSpPr/>
          <p:nvPr/>
        </p:nvSpPr>
        <p:spPr>
          <a:xfrm>
            <a:off x="833199" y="1248966"/>
            <a:ext cx="5996940" cy="694373"/>
          </a:xfrm>
          <a:prstGeom prst="rect">
            <a:avLst/>
          </a:prstGeom>
          <a:noFill/>
          <a:ln/>
        </p:spPr>
        <p:txBody>
          <a:bodyPr wrap="none" rtlCol="0" anchor="t"/>
          <a:lstStyle/>
          <a:p>
            <a:pPr marL="0" indent="0">
              <a:lnSpc>
                <a:spcPts val="5468"/>
              </a:lnSpc>
              <a:buNone/>
            </a:pPr>
            <a:r>
              <a:rPr lang="en-US" sz="4374" dirty="0">
                <a:solidFill>
                  <a:srgbClr val="1F1E1E"/>
                </a:solidFill>
                <a:latin typeface="Red Hat Text" pitchFamily="34" charset="0"/>
                <a:ea typeface="Red Hat Text" pitchFamily="34" charset="-122"/>
                <a:cs typeface="Red Hat Text" pitchFamily="34" charset="-120"/>
              </a:rPr>
              <a:t>AI Vs. Human Therapists</a:t>
            </a:r>
            <a:endParaRPr lang="en-US" sz="4374" dirty="0"/>
          </a:p>
        </p:txBody>
      </p:sp>
      <p:sp>
        <p:nvSpPr>
          <p:cNvPr id="5" name="Shape 2"/>
          <p:cNvSpPr/>
          <p:nvPr/>
        </p:nvSpPr>
        <p:spPr>
          <a:xfrm>
            <a:off x="833199" y="2450187"/>
            <a:ext cx="499943" cy="499943"/>
          </a:xfrm>
          <a:prstGeom prst="roundRect">
            <a:avLst>
              <a:gd name="adj" fmla="val 26667"/>
            </a:avLst>
          </a:prstGeom>
          <a:solidFill>
            <a:srgbClr val="FFE0E0"/>
          </a:solidFill>
          <a:ln/>
        </p:spPr>
      </p:sp>
      <p:sp>
        <p:nvSpPr>
          <p:cNvPr id="6" name="Text 3"/>
          <p:cNvSpPr/>
          <p:nvPr/>
        </p:nvSpPr>
        <p:spPr>
          <a:xfrm>
            <a:off x="1029772" y="2491859"/>
            <a:ext cx="106680" cy="416481"/>
          </a:xfrm>
          <a:prstGeom prst="rect">
            <a:avLst/>
          </a:prstGeom>
          <a:noFill/>
          <a:ln/>
        </p:spPr>
        <p:txBody>
          <a:bodyPr wrap="none" rtlCol="0" anchor="t"/>
          <a:lstStyle/>
          <a:p>
            <a:pPr marL="0" indent="0" algn="ctr">
              <a:lnSpc>
                <a:spcPts val="3281"/>
              </a:lnSpc>
              <a:buNone/>
            </a:pPr>
            <a:r>
              <a:rPr lang="en-US" sz="2624" dirty="0">
                <a:solidFill>
                  <a:srgbClr val="1F1E1E"/>
                </a:solidFill>
                <a:latin typeface="Red Hat Text" pitchFamily="34" charset="0"/>
                <a:ea typeface="Red Hat Text" pitchFamily="34" charset="-122"/>
                <a:cs typeface="Red Hat Text" pitchFamily="34" charset="-120"/>
              </a:rPr>
              <a:t>1</a:t>
            </a:r>
            <a:endParaRPr lang="en-US" sz="2624" dirty="0"/>
          </a:p>
        </p:txBody>
      </p:sp>
      <p:sp>
        <p:nvSpPr>
          <p:cNvPr id="7" name="Text 4"/>
          <p:cNvSpPr/>
          <p:nvPr/>
        </p:nvSpPr>
        <p:spPr>
          <a:xfrm>
            <a:off x="1555313" y="2526506"/>
            <a:ext cx="2263140" cy="347186"/>
          </a:xfrm>
          <a:prstGeom prst="rect">
            <a:avLst/>
          </a:prstGeom>
          <a:noFill/>
          <a:ln/>
        </p:spPr>
        <p:txBody>
          <a:bodyPr wrap="none" rtlCol="0" anchor="t"/>
          <a:lstStyle/>
          <a:p>
            <a:pPr marL="0" indent="0">
              <a:lnSpc>
                <a:spcPts val="2734"/>
              </a:lnSpc>
              <a:buNone/>
            </a:pPr>
            <a:r>
              <a:rPr lang="en-US" sz="2187" dirty="0">
                <a:solidFill>
                  <a:srgbClr val="1F1E1E"/>
                </a:solidFill>
                <a:latin typeface="Red Hat Text" pitchFamily="34" charset="0"/>
                <a:ea typeface="Red Hat Text" pitchFamily="34" charset="-122"/>
                <a:cs typeface="Red Hat Text" pitchFamily="34" charset="-120"/>
              </a:rPr>
              <a:t>Emotional comfort</a:t>
            </a:r>
            <a:endParaRPr lang="en-US" sz="2187" dirty="0"/>
          </a:p>
        </p:txBody>
      </p:sp>
      <p:sp>
        <p:nvSpPr>
          <p:cNvPr id="8" name="Text 5"/>
          <p:cNvSpPr/>
          <p:nvPr/>
        </p:nvSpPr>
        <p:spPr>
          <a:xfrm>
            <a:off x="1555313" y="3095863"/>
            <a:ext cx="2905601" cy="1777008"/>
          </a:xfrm>
          <a:prstGeom prst="rect">
            <a:avLst/>
          </a:prstGeom>
          <a:noFill/>
          <a:ln/>
        </p:spPr>
        <p:txBody>
          <a:bodyPr wrap="square" rtlCol="0" anchor="t"/>
          <a:lstStyle/>
          <a:p>
            <a:pPr marL="0" indent="0">
              <a:lnSpc>
                <a:spcPts val="2799"/>
              </a:lnSpc>
              <a:buNone/>
            </a:pPr>
            <a:r>
              <a:rPr lang="en-US" sz="1750" dirty="0">
                <a:solidFill>
                  <a:srgbClr val="3B3535"/>
                </a:solidFill>
                <a:latin typeface="Roboto" pitchFamily="34" charset="0"/>
                <a:ea typeface="Roboto" pitchFamily="34" charset="-122"/>
                <a:cs typeface="Roboto" pitchFamily="34" charset="-120"/>
              </a:rPr>
              <a:t>Human therapists offer emotional comfort and rapport to their clients, something machines cannot do.</a:t>
            </a:r>
            <a:endParaRPr lang="en-US" sz="1750" dirty="0"/>
          </a:p>
        </p:txBody>
      </p:sp>
      <p:sp>
        <p:nvSpPr>
          <p:cNvPr id="9" name="Shape 6"/>
          <p:cNvSpPr/>
          <p:nvPr/>
        </p:nvSpPr>
        <p:spPr>
          <a:xfrm>
            <a:off x="4683085" y="2450187"/>
            <a:ext cx="499943" cy="499943"/>
          </a:xfrm>
          <a:prstGeom prst="roundRect">
            <a:avLst>
              <a:gd name="adj" fmla="val 26667"/>
            </a:avLst>
          </a:prstGeom>
          <a:solidFill>
            <a:srgbClr val="FFE0E0"/>
          </a:solidFill>
          <a:ln/>
        </p:spPr>
      </p:sp>
      <p:sp>
        <p:nvSpPr>
          <p:cNvPr id="10" name="Text 7"/>
          <p:cNvSpPr/>
          <p:nvPr/>
        </p:nvSpPr>
        <p:spPr>
          <a:xfrm>
            <a:off x="4841557" y="2491859"/>
            <a:ext cx="182880" cy="416481"/>
          </a:xfrm>
          <a:prstGeom prst="rect">
            <a:avLst/>
          </a:prstGeom>
          <a:noFill/>
          <a:ln/>
        </p:spPr>
        <p:txBody>
          <a:bodyPr wrap="none" rtlCol="0" anchor="t"/>
          <a:lstStyle/>
          <a:p>
            <a:pPr marL="0" indent="0" algn="ctr">
              <a:lnSpc>
                <a:spcPts val="3281"/>
              </a:lnSpc>
              <a:buNone/>
            </a:pPr>
            <a:r>
              <a:rPr lang="en-US" sz="2624" dirty="0">
                <a:solidFill>
                  <a:srgbClr val="1F1E1E"/>
                </a:solidFill>
                <a:latin typeface="Red Hat Text" pitchFamily="34" charset="0"/>
                <a:ea typeface="Red Hat Text" pitchFamily="34" charset="-122"/>
                <a:cs typeface="Red Hat Text" pitchFamily="34" charset="-120"/>
              </a:rPr>
              <a:t>2</a:t>
            </a:r>
            <a:endParaRPr lang="en-US" sz="2624" dirty="0"/>
          </a:p>
        </p:txBody>
      </p:sp>
      <p:sp>
        <p:nvSpPr>
          <p:cNvPr id="11" name="Text 8"/>
          <p:cNvSpPr/>
          <p:nvPr/>
        </p:nvSpPr>
        <p:spPr>
          <a:xfrm>
            <a:off x="5405199" y="2526506"/>
            <a:ext cx="2221944" cy="347186"/>
          </a:xfrm>
          <a:prstGeom prst="rect">
            <a:avLst/>
          </a:prstGeom>
          <a:noFill/>
          <a:ln/>
        </p:spPr>
        <p:txBody>
          <a:bodyPr wrap="none" rtlCol="0" anchor="t"/>
          <a:lstStyle/>
          <a:p>
            <a:pPr marL="0" indent="0">
              <a:lnSpc>
                <a:spcPts val="2734"/>
              </a:lnSpc>
              <a:buNone/>
            </a:pPr>
            <a:r>
              <a:rPr lang="en-US" sz="2187" dirty="0">
                <a:solidFill>
                  <a:srgbClr val="1F1E1E"/>
                </a:solidFill>
                <a:latin typeface="Red Hat Text" pitchFamily="34" charset="0"/>
                <a:ea typeface="Red Hat Text" pitchFamily="34" charset="-122"/>
                <a:cs typeface="Red Hat Text" pitchFamily="34" charset="-120"/>
              </a:rPr>
              <a:t>Accuracy</a:t>
            </a:r>
            <a:endParaRPr lang="en-US" sz="2187" dirty="0"/>
          </a:p>
        </p:txBody>
      </p:sp>
      <p:sp>
        <p:nvSpPr>
          <p:cNvPr id="12" name="Text 9"/>
          <p:cNvSpPr/>
          <p:nvPr/>
        </p:nvSpPr>
        <p:spPr>
          <a:xfrm>
            <a:off x="5405199" y="3095863"/>
            <a:ext cx="2905601" cy="1777008"/>
          </a:xfrm>
          <a:prstGeom prst="rect">
            <a:avLst/>
          </a:prstGeom>
          <a:noFill/>
          <a:ln/>
        </p:spPr>
        <p:txBody>
          <a:bodyPr wrap="square" rtlCol="0" anchor="t"/>
          <a:lstStyle/>
          <a:p>
            <a:pPr marL="0" indent="0">
              <a:lnSpc>
                <a:spcPts val="2799"/>
              </a:lnSpc>
              <a:buNone/>
            </a:pPr>
            <a:r>
              <a:rPr lang="en-US" sz="1750" dirty="0">
                <a:solidFill>
                  <a:srgbClr val="3B3535"/>
                </a:solidFill>
                <a:latin typeface="Roboto" pitchFamily="34" charset="0"/>
                <a:ea typeface="Roboto" pitchFamily="34" charset="-122"/>
                <a:cs typeface="Roboto" pitchFamily="34" charset="-120"/>
              </a:rPr>
              <a:t>AI algorithms can assist and enhance diagnostics and provide clinical feedback with a high level of accuracy, leading to better outcomes.</a:t>
            </a:r>
            <a:endParaRPr lang="en-US" sz="1750" dirty="0"/>
          </a:p>
        </p:txBody>
      </p:sp>
      <p:sp>
        <p:nvSpPr>
          <p:cNvPr id="13" name="Shape 10"/>
          <p:cNvSpPr/>
          <p:nvPr/>
        </p:nvSpPr>
        <p:spPr>
          <a:xfrm>
            <a:off x="833199" y="5268635"/>
            <a:ext cx="499943" cy="499943"/>
          </a:xfrm>
          <a:prstGeom prst="roundRect">
            <a:avLst>
              <a:gd name="adj" fmla="val 26667"/>
            </a:avLst>
          </a:prstGeom>
          <a:solidFill>
            <a:srgbClr val="FFE0E0"/>
          </a:solidFill>
          <a:ln/>
        </p:spPr>
      </p:sp>
      <p:sp>
        <p:nvSpPr>
          <p:cNvPr id="14" name="Text 11"/>
          <p:cNvSpPr/>
          <p:nvPr/>
        </p:nvSpPr>
        <p:spPr>
          <a:xfrm>
            <a:off x="984052" y="5310307"/>
            <a:ext cx="198120" cy="416481"/>
          </a:xfrm>
          <a:prstGeom prst="rect">
            <a:avLst/>
          </a:prstGeom>
          <a:noFill/>
          <a:ln/>
        </p:spPr>
        <p:txBody>
          <a:bodyPr wrap="none" rtlCol="0" anchor="t"/>
          <a:lstStyle/>
          <a:p>
            <a:pPr marL="0" indent="0" algn="ctr">
              <a:lnSpc>
                <a:spcPts val="3281"/>
              </a:lnSpc>
              <a:buNone/>
            </a:pPr>
            <a:r>
              <a:rPr lang="en-US" sz="2624" dirty="0">
                <a:solidFill>
                  <a:srgbClr val="1F1E1E"/>
                </a:solidFill>
                <a:latin typeface="Red Hat Text" pitchFamily="34" charset="0"/>
                <a:ea typeface="Red Hat Text" pitchFamily="34" charset="-122"/>
                <a:cs typeface="Red Hat Text" pitchFamily="34" charset="-120"/>
              </a:rPr>
              <a:t>3</a:t>
            </a:r>
            <a:endParaRPr lang="en-US" sz="2624" dirty="0"/>
          </a:p>
        </p:txBody>
      </p:sp>
      <p:sp>
        <p:nvSpPr>
          <p:cNvPr id="15" name="Text 12"/>
          <p:cNvSpPr/>
          <p:nvPr/>
        </p:nvSpPr>
        <p:spPr>
          <a:xfrm>
            <a:off x="1555313" y="5344954"/>
            <a:ext cx="2221944" cy="347186"/>
          </a:xfrm>
          <a:prstGeom prst="rect">
            <a:avLst/>
          </a:prstGeom>
          <a:noFill/>
          <a:ln/>
        </p:spPr>
        <p:txBody>
          <a:bodyPr wrap="none" rtlCol="0" anchor="t"/>
          <a:lstStyle/>
          <a:p>
            <a:pPr marL="0" indent="0">
              <a:lnSpc>
                <a:spcPts val="2734"/>
              </a:lnSpc>
              <a:buNone/>
            </a:pPr>
            <a:r>
              <a:rPr lang="en-US" sz="2187" dirty="0">
                <a:solidFill>
                  <a:srgbClr val="1F1E1E"/>
                </a:solidFill>
                <a:latin typeface="Red Hat Text" pitchFamily="34" charset="0"/>
                <a:ea typeface="Red Hat Text" pitchFamily="34" charset="-122"/>
                <a:cs typeface="Red Hat Text" pitchFamily="34" charset="-120"/>
              </a:rPr>
              <a:t>24/7 Availability</a:t>
            </a:r>
            <a:endParaRPr lang="en-US" sz="2187" dirty="0"/>
          </a:p>
        </p:txBody>
      </p:sp>
      <p:sp>
        <p:nvSpPr>
          <p:cNvPr id="16" name="Text 13"/>
          <p:cNvSpPr/>
          <p:nvPr/>
        </p:nvSpPr>
        <p:spPr>
          <a:xfrm>
            <a:off x="1555313" y="5914311"/>
            <a:ext cx="6755487" cy="1066205"/>
          </a:xfrm>
          <a:prstGeom prst="rect">
            <a:avLst/>
          </a:prstGeom>
          <a:noFill/>
          <a:ln/>
        </p:spPr>
        <p:txBody>
          <a:bodyPr wrap="square" rtlCol="0" anchor="t"/>
          <a:lstStyle/>
          <a:p>
            <a:pPr marL="0" indent="0">
              <a:lnSpc>
                <a:spcPts val="2799"/>
              </a:lnSpc>
              <a:buNone/>
            </a:pPr>
            <a:r>
              <a:rPr lang="en-US" sz="1750" dirty="0">
                <a:solidFill>
                  <a:srgbClr val="3B3535"/>
                </a:solidFill>
                <a:latin typeface="Roboto" pitchFamily="34" charset="0"/>
                <a:ea typeface="Roboto" pitchFamily="34" charset="-122"/>
                <a:cs typeface="Roboto" pitchFamily="34" charset="-120"/>
              </a:rPr>
              <a:t>AI machines are readily available, whereas humans are limited by their regular working hours. Moreover, an AI assistant can attend to several patients simultaneously.</a:t>
            </a:r>
            <a:endParaRPr lang="en-US" sz="1750" dirty="0"/>
          </a:p>
        </p:txBody>
      </p:sp>
      <p:pic>
        <p:nvPicPr>
          <p:cNvPr id="17" name="Image 1" descr="preencoded.png"/>
          <p:cNvPicPr>
            <a:picLocks noChangeAspect="1"/>
          </p:cNvPicPr>
          <p:nvPr/>
        </p:nvPicPr>
        <p:blipFill>
          <a:blip r:embed="rId4"/>
          <a:stretch>
            <a:fillRect/>
          </a:stretch>
        </p:blipFill>
        <p:spPr>
          <a:xfrm>
            <a:off x="9144000" y="0"/>
            <a:ext cx="5486400" cy="822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636807"/>
            <a:ext cx="14630400" cy="8975527"/>
          </a:xfrm>
          <a:prstGeom prst="rect">
            <a:avLst/>
          </a:prstGeom>
          <a:solidFill>
            <a:srgbClr val="FFFAFA"/>
          </a:solidFill>
          <a:ln/>
        </p:spPr>
      </p:sp>
      <p:sp>
        <p:nvSpPr>
          <p:cNvPr id="4" name="Text 1"/>
          <p:cNvSpPr/>
          <p:nvPr/>
        </p:nvSpPr>
        <p:spPr>
          <a:xfrm>
            <a:off x="6028015" y="-7264"/>
            <a:ext cx="3110746" cy="486013"/>
          </a:xfrm>
          <a:prstGeom prst="rect">
            <a:avLst/>
          </a:prstGeom>
          <a:noFill/>
          <a:ln/>
        </p:spPr>
        <p:txBody>
          <a:bodyPr wrap="none" rtlCol="0" anchor="t"/>
          <a:lstStyle/>
          <a:p>
            <a:pPr marL="0" indent="0">
              <a:lnSpc>
                <a:spcPts val="3827"/>
              </a:lnSpc>
              <a:buNone/>
            </a:pPr>
            <a:r>
              <a:rPr lang="en-US" sz="3062" dirty="0">
                <a:solidFill>
                  <a:srgbClr val="1F1E1E"/>
                </a:solidFill>
                <a:latin typeface="Red Hat Text" pitchFamily="34" charset="0"/>
                <a:ea typeface="Red Hat Text" pitchFamily="34" charset="-122"/>
                <a:cs typeface="Red Hat Text" pitchFamily="34" charset="-120"/>
              </a:rPr>
              <a:t>Conclusion</a:t>
            </a:r>
            <a:endParaRPr lang="en-US" sz="3062" dirty="0"/>
          </a:p>
        </p:txBody>
      </p:sp>
      <p:pic>
        <p:nvPicPr>
          <p:cNvPr id="5" name="Image 1" descr="preencoded.png"/>
          <p:cNvPicPr>
            <a:picLocks noChangeAspect="1"/>
          </p:cNvPicPr>
          <p:nvPr/>
        </p:nvPicPr>
        <p:blipFill>
          <a:blip r:embed="rId4"/>
          <a:stretch>
            <a:fillRect/>
          </a:stretch>
        </p:blipFill>
        <p:spPr>
          <a:xfrm>
            <a:off x="541615" y="965597"/>
            <a:ext cx="4767271" cy="2946320"/>
          </a:xfrm>
          <a:prstGeom prst="rect">
            <a:avLst/>
          </a:prstGeom>
        </p:spPr>
      </p:pic>
      <p:sp>
        <p:nvSpPr>
          <p:cNvPr id="7" name="Text 3"/>
          <p:cNvSpPr/>
          <p:nvPr/>
        </p:nvSpPr>
        <p:spPr>
          <a:xfrm>
            <a:off x="541615" y="4366502"/>
            <a:ext cx="4767271" cy="3512578"/>
          </a:xfrm>
          <a:prstGeom prst="rect">
            <a:avLst/>
          </a:prstGeom>
          <a:noFill/>
          <a:ln/>
        </p:spPr>
        <p:txBody>
          <a:bodyPr wrap="square" rtlCol="0" anchor="t"/>
          <a:lstStyle/>
          <a:p>
            <a:pPr marL="0" indent="0" algn="l">
              <a:lnSpc>
                <a:spcPts val="1960"/>
              </a:lnSpc>
              <a:buNone/>
            </a:pPr>
            <a:r>
              <a:rPr lang="en-US" dirty="0">
                <a:solidFill>
                  <a:srgbClr val="3B3535"/>
                </a:solidFill>
                <a:latin typeface="Roboto" pitchFamily="34" charset="0"/>
                <a:ea typeface="Roboto" pitchFamily="34" charset="-122"/>
                <a:cs typeface="Roboto" pitchFamily="34" charset="-120"/>
              </a:rPr>
              <a:t>The scalability of the AI-based Mental Health Assistant can help bridge gaps in mental health services, making a significant difference in patients' lives.</a:t>
            </a:r>
            <a:endParaRPr lang="en-US" dirty="0"/>
          </a:p>
        </p:txBody>
      </p:sp>
      <p:sp>
        <p:nvSpPr>
          <p:cNvPr id="15" name="TextBox 14">
            <a:extLst>
              <a:ext uri="{FF2B5EF4-FFF2-40B4-BE49-F238E27FC236}">
                <a16:creationId xmlns:a16="http://schemas.microsoft.com/office/drawing/2014/main" id="{25D693DC-649A-317D-2ABA-718AD0A572E9}"/>
              </a:ext>
            </a:extLst>
          </p:cNvPr>
          <p:cNvSpPr txBox="1"/>
          <p:nvPr/>
        </p:nvSpPr>
        <p:spPr>
          <a:xfrm>
            <a:off x="6385560" y="965597"/>
            <a:ext cx="7299960" cy="2862322"/>
          </a:xfrm>
          <a:prstGeom prst="rect">
            <a:avLst/>
          </a:prstGeom>
          <a:noFill/>
        </p:spPr>
        <p:txBody>
          <a:bodyPr wrap="square" rtlCol="0">
            <a:spAutoFit/>
          </a:bodyPr>
          <a:lstStyle/>
          <a:p>
            <a:pPr marL="0" marR="0">
              <a:spcBef>
                <a:spcPts val="0"/>
              </a:spcBef>
              <a:spcAft>
                <a:spcPts val="0"/>
              </a:spcAft>
            </a:pPr>
            <a:r>
              <a:rPr lang="en-US" sz="1800" dirty="0">
                <a:effectLst/>
                <a:latin typeface="Roboto" panose="02000000000000000000" pitchFamily="2" charset="0"/>
                <a:ea typeface="Roboto" panose="02000000000000000000" pitchFamily="2" charset="0"/>
                <a:cs typeface="Roboto" panose="02000000000000000000" pitchFamily="2" charset="0"/>
              </a:rPr>
              <a:t>By providing a personal AI-based mental health assistant, we hope to make mental health care more accessible to those who need it and encourage people to take better care of their mental health. No one should ever feel alone in their struggles and our code aims to provide a platform where people can get support and help. At the same time, we hope to encourage people to take better care of their mental health and to seek help whenever they need it. </a:t>
            </a:r>
          </a:p>
          <a:p>
            <a:pPr marL="0" marR="0">
              <a:spcBef>
                <a:spcPts val="0"/>
              </a:spcBef>
              <a:spcAft>
                <a:spcPts val="0"/>
              </a:spcAft>
            </a:pPr>
            <a:r>
              <a:rPr lang="en-US" sz="1800" dirty="0">
                <a:effectLst/>
                <a:latin typeface="Roboto" panose="02000000000000000000" pitchFamily="2" charset="0"/>
                <a:ea typeface="Roboto" panose="02000000000000000000" pitchFamily="2" charset="0"/>
                <a:cs typeface="Roboto" panose="02000000000000000000" pitchFamily="2" charset="0"/>
              </a:rPr>
              <a:t> </a:t>
            </a:r>
          </a:p>
          <a:p>
            <a:pPr marL="0" marR="0">
              <a:spcBef>
                <a:spcPts val="0"/>
              </a:spcBef>
              <a:spcAft>
                <a:spcPts val="0"/>
              </a:spcAft>
            </a:pPr>
            <a:r>
              <a:rPr lang="en-US" sz="1800" dirty="0">
                <a:effectLst/>
                <a:latin typeface="Roboto" panose="02000000000000000000" pitchFamily="2" charset="0"/>
                <a:ea typeface="Roboto" panose="02000000000000000000" pitchFamily="2" charset="0"/>
                <a:cs typeface="Roboto" panose="02000000000000000000" pitchFamily="2" charset="0"/>
              </a:rPr>
              <a:t>Mental health is just as important as physical health and everyone should be aware of the resources available to them.</a:t>
            </a:r>
          </a:p>
        </p:txBody>
      </p:sp>
      <p:pic>
        <p:nvPicPr>
          <p:cNvPr id="17" name="Picture 16" descr="A heart shaped pink paper with black text&#10;&#10;Description automatically generated">
            <a:extLst>
              <a:ext uri="{FF2B5EF4-FFF2-40B4-BE49-F238E27FC236}">
                <a16:creationId xmlns:a16="http://schemas.microsoft.com/office/drawing/2014/main" id="{0EECD872-2931-8634-4AAA-1D18BDCA9482}"/>
              </a:ext>
            </a:extLst>
          </p:cNvPr>
          <p:cNvPicPr>
            <a:picLocks noChangeAspect="1"/>
          </p:cNvPicPr>
          <p:nvPr/>
        </p:nvPicPr>
        <p:blipFill>
          <a:blip r:embed="rId5"/>
          <a:stretch>
            <a:fillRect/>
          </a:stretch>
        </p:blipFill>
        <p:spPr>
          <a:xfrm>
            <a:off x="5850501" y="4070336"/>
            <a:ext cx="8017899" cy="40441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1207</Words>
  <Application>Microsoft Office PowerPoint</Application>
  <PresentationFormat>Custom</PresentationFormat>
  <Paragraphs>75</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Red Hat Text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Sagnik Chakraborty</cp:lastModifiedBy>
  <cp:revision>3</cp:revision>
  <dcterms:created xsi:type="dcterms:W3CDTF">2023-08-05T06:15:39Z</dcterms:created>
  <dcterms:modified xsi:type="dcterms:W3CDTF">2023-08-05T08:01:01Z</dcterms:modified>
</cp:coreProperties>
</file>